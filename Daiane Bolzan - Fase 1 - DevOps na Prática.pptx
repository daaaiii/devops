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notesMasterIdLst>
    <p:notesMasterId r:id="rId17"/>
  </p:notesMasterIdLst>
  <p:handoutMasterIdLst>
    <p:handoutMasterId r:id="rId18"/>
  </p:handoutMasterIdLst>
  <p:sldIdLst>
    <p:sldId id="288" r:id="rId5"/>
    <p:sldId id="325" r:id="rId6"/>
    <p:sldId id="301" r:id="rId7"/>
    <p:sldId id="302" r:id="rId8"/>
    <p:sldId id="326" r:id="rId9"/>
    <p:sldId id="327" r:id="rId10"/>
    <p:sldId id="293" r:id="rId11"/>
    <p:sldId id="304" r:id="rId12"/>
    <p:sldId id="321" r:id="rId13"/>
    <p:sldId id="323" r:id="rId14"/>
    <p:sldId id="324" r:id="rId15"/>
    <p:sldId id="300" r:id="rId16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25"/>
            <p14:sldId id="301"/>
            <p14:sldId id="302"/>
            <p14:sldId id="326"/>
            <p14:sldId id="327"/>
            <p14:sldId id="293"/>
            <p14:sldId id="304"/>
            <p14:sldId id="321"/>
            <p14:sldId id="323"/>
            <p14:sldId id="324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faela Boletti Duraes Souto" initials="RBDS" lastIdx="0" clrIdx="0">
    <p:extLst>
      <p:ext uri="{19B8F6BF-5375-455C-9EA6-DF929625EA0E}">
        <p15:presenceInfo xmlns:p15="http://schemas.microsoft.com/office/powerpoint/2012/main" userId="S-1-5-21-602162358-1580818891-839522115-280194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559B"/>
    <a:srgbClr val="C3A77A"/>
    <a:srgbClr val="9E7E54"/>
    <a:srgbClr val="AE9780"/>
    <a:srgbClr val="9999FF"/>
    <a:srgbClr val="85677A"/>
    <a:srgbClr val="A87F6E"/>
    <a:srgbClr val="EEEEFC"/>
    <a:srgbClr val="19266B"/>
    <a:srgbClr val="3936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32" autoAdjust="0"/>
    <p:restoredTop sz="91704" autoAdjust="0"/>
  </p:normalViewPr>
  <p:slideViewPr>
    <p:cSldViewPr snapToGrid="0">
      <p:cViewPr varScale="1">
        <p:scale>
          <a:sx n="73" d="100"/>
          <a:sy n="73" d="100"/>
        </p:scale>
        <p:origin x="105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50" d="100"/>
        <a:sy n="150" d="100"/>
      </p:scale>
      <p:origin x="0" y="-144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58637-C724-49AC-97B9-A464C80FECDD}" type="datetimeFigureOut">
              <a:rPr lang="pt-BR" smtClean="0"/>
              <a:t>24/05/2026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792163" y="1143000"/>
            <a:ext cx="5273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FA6931-5E41-4AE2-9D49-4AAAAFF17FA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9544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FA6931-5E41-4AE2-9D49-4AAAAFF17FA1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571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 err="1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DevOPs</a:t>
            </a: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 na Prática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1: Configuração e Automação Inicial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2795173"/>
            <a:ext cx="11987319" cy="25249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234923" indent="-234923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modelo para você preencher a primeira entrega da disciplina.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1 - Documentação de Planejamento</a:t>
            </a:r>
          </a:p>
          <a:p>
            <a:pPr marL="266700" indent="0" algn="l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2 - Pipeline de Integração Contínua (CI)</a:t>
            </a:r>
          </a:p>
          <a:p>
            <a:pPr marL="266700" indent="0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 Seção 3 - Scripts de Infraestrutura como Código</a:t>
            </a:r>
          </a:p>
          <a:p>
            <a:pPr marL="234923" indent="-234923" algn="l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pt-BR" sz="2422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375728732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1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Documentação de Planejamento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Retângulo 5">
            <a:extLst>
              <a:ext uri="{FF2B5EF4-FFF2-40B4-BE49-F238E27FC236}">
                <a16:creationId xmlns:a16="http://schemas.microsoft.com/office/drawing/2014/main" id="{6807B6E6-E1E3-4161-B953-A271C13ABAE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17832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DESCRIÇÃO DO PROJETO, SEUS OBJETIVOS E REQUISITOS: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5C833F-81A7-4EFD-A5F0-EAE720DDCE3F}"/>
              </a:ext>
            </a:extLst>
          </p:cNvPr>
          <p:cNvSpPr txBox="1"/>
          <p:nvPr userDrawn="1"/>
        </p:nvSpPr>
        <p:spPr>
          <a:xfrm>
            <a:off x="10835640" y="855785"/>
            <a:ext cx="46686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1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Documentação de Planejamento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PLANO DE INTEGRAÇÃO CONTÍNUA: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5C833F-81A7-4EFD-A5F0-EAE720DDCE3F}"/>
              </a:ext>
            </a:extLst>
          </p:cNvPr>
          <p:cNvSpPr txBox="1"/>
          <p:nvPr userDrawn="1"/>
        </p:nvSpPr>
        <p:spPr>
          <a:xfrm>
            <a:off x="10835640" y="855785"/>
            <a:ext cx="46686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1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Documentação de Planejamento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826031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c) ESPECIFICAÇÃO DETALHADA DA INFRAESTRUTURA NECESSÁRIA: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5C833F-81A7-4EFD-A5F0-EAE720DDCE3F}"/>
              </a:ext>
            </a:extLst>
          </p:cNvPr>
          <p:cNvSpPr txBox="1"/>
          <p:nvPr userDrawn="1"/>
        </p:nvSpPr>
        <p:spPr>
          <a:xfrm>
            <a:off x="10835640" y="855785"/>
            <a:ext cx="466861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1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Documentação de Planejamento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030470"/>
            <a:ext cx="14544674" cy="6840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637171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2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Pipeline de Integração Contínua (CI)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B0CB3943-272C-4C32-B482-560121CB61B3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1416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1068419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CONFIGURAÇÃO DE UM REPOSITÓRIO DE CÓDIGO: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A3E46545-5E91-4C76-87DB-86D3C5ED1C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22000" y="855785"/>
            <a:ext cx="458225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Pipeline de Integração Contínua</a:t>
            </a:r>
          </a:p>
        </p:txBody>
      </p:sp>
      <p:sp>
        <p:nvSpPr>
          <p:cNvPr id="9" name="Espaço Reservado para Texto 9">
            <a:extLst>
              <a:ext uri="{FF2B5EF4-FFF2-40B4-BE49-F238E27FC236}">
                <a16:creationId xmlns:a16="http://schemas.microsoft.com/office/drawing/2014/main" id="{B4A74413-C4BC-4DEC-B941-B0212D2BBC4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71792" y="1639268"/>
            <a:ext cx="2808000" cy="277200"/>
          </a:xfrm>
          <a:prstGeom prst="rect">
            <a:avLst/>
          </a:prstGeom>
          <a:solidFill>
            <a:srgbClr val="EEEEFC"/>
          </a:solidFill>
        </p:spPr>
        <p:txBody>
          <a:bodyPr lIns="36000" tIns="0" rIns="0" bIns="0"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o repositório utilizado.</a:t>
            </a:r>
          </a:p>
        </p:txBody>
      </p:sp>
      <p:graphicFrame>
        <p:nvGraphicFramePr>
          <p:cNvPr id="11" name="Tabela 10">
            <a:extLst>
              <a:ext uri="{FF2B5EF4-FFF2-40B4-BE49-F238E27FC236}">
                <a16:creationId xmlns:a16="http://schemas.microsoft.com/office/drawing/2014/main" id="{3BC377D6-90BA-4821-B87E-B1364DB8CED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31585906"/>
              </p:ext>
            </p:extLst>
          </p:nvPr>
        </p:nvGraphicFramePr>
        <p:xfrm>
          <a:off x="1193799" y="1904081"/>
          <a:ext cx="3888000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8000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986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8" y="1640232"/>
            <a:ext cx="7377112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b) IMPLEMENTAÇÃO DE UM PIPELINE DE CI USANDO UM GITHUB ACTIONS: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922000" y="855785"/>
            <a:ext cx="4582256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2 – </a:t>
            </a:r>
            <a:r>
              <a:rPr lang="pt-BR" sz="180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Pipeline de Integração Contínua</a:t>
            </a:r>
          </a:p>
        </p:txBody>
      </p: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2C88FADB-3181-4CC0-AA91-FB474121F9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3" name="Tabela 12">
            <a:extLst>
              <a:ext uri="{FF2B5EF4-FFF2-40B4-BE49-F238E27FC236}">
                <a16:creationId xmlns:a16="http://schemas.microsoft.com/office/drawing/2014/main" id="{18D029B0-9E19-48F7-A5BA-EA9511C13C3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022433613"/>
              </p:ext>
            </p:extLst>
          </p:nvPr>
        </p:nvGraphicFramePr>
        <p:xfrm>
          <a:off x="1193799" y="1904081"/>
          <a:ext cx="3888000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8000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99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8">
            <a:extLst>
              <a:ext uri="{FF2B5EF4-FFF2-40B4-BE49-F238E27FC236}">
                <a16:creationId xmlns:a16="http://schemas.microsoft.com/office/drawing/2014/main" id="{FA034C09-59DD-4564-9C6E-8F60F069EB37}"/>
              </a:ext>
            </a:extLst>
          </p:cNvPr>
          <p:cNvSpPr txBox="1"/>
          <p:nvPr userDrawn="1"/>
        </p:nvSpPr>
        <p:spPr>
          <a:xfrm>
            <a:off x="1865025" y="4038855"/>
            <a:ext cx="12672000" cy="152349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pt-BR" sz="4000" b="1" kern="3200" spc="20" baseline="0" dirty="0">
                <a:solidFill>
                  <a:srgbClr val="9E7E54"/>
                </a:solidFill>
                <a:effectLst/>
                <a:latin typeface="+mn-lt"/>
                <a:ea typeface="Calibri Light" panose="020F0302020204030204" pitchFamily="34" charset="0"/>
              </a:rPr>
              <a:t>SEÇÃO 3</a:t>
            </a:r>
          </a:p>
          <a:p>
            <a:pPr marL="0" indent="0" algn="ctr">
              <a:lnSpc>
                <a:spcPct val="100000"/>
              </a:lnSpc>
              <a:spcAft>
                <a:spcPts val="2400"/>
              </a:spcAft>
              <a:buNone/>
            </a:pPr>
            <a:r>
              <a:rPr lang="pt-BR" sz="5400" b="1" kern="3200" spc="20" baseline="0" dirty="0">
                <a:solidFill>
                  <a:srgbClr val="49509A"/>
                </a:solidFill>
                <a:effectLst/>
                <a:latin typeface="+mn-lt"/>
                <a:ea typeface="Calibri Light" panose="020F0302020204030204" pitchFamily="34" charset="0"/>
              </a:rPr>
              <a:t>Scripts de Infraestrutura como Código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B70FB7A2-C821-4005-9581-A434F16907DD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5C62543-80A6-4335-B5BF-F8DAD9E7C88A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E5B71C4-9222-4017-8252-D16E1DE3F5FB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7" name="Retângulo 6">
            <a:extLst>
              <a:ext uri="{FF2B5EF4-FFF2-40B4-BE49-F238E27FC236}">
                <a16:creationId xmlns:a16="http://schemas.microsoft.com/office/drawing/2014/main" id="{6F3E43FC-36AC-4A32-B34A-E3BE18728F88}"/>
              </a:ext>
            </a:extLst>
          </p:cNvPr>
          <p:cNvSpPr/>
          <p:nvPr userDrawn="1"/>
        </p:nvSpPr>
        <p:spPr>
          <a:xfrm>
            <a:off x="911025" y="8714216"/>
            <a:ext cx="14580000" cy="28800"/>
          </a:xfrm>
          <a:prstGeom prst="rect">
            <a:avLst/>
          </a:prstGeom>
          <a:solidFill>
            <a:srgbClr val="5355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7329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aixaDeTexto 16">
            <a:extLst>
              <a:ext uri="{FF2B5EF4-FFF2-40B4-BE49-F238E27FC236}">
                <a16:creationId xmlns:a16="http://schemas.microsoft.com/office/drawing/2014/main" id="{40C1AF06-63D9-405D-94ED-2270CB6C71F7}"/>
              </a:ext>
            </a:extLst>
          </p:cNvPr>
          <p:cNvSpPr txBox="1"/>
          <p:nvPr userDrawn="1"/>
        </p:nvSpPr>
        <p:spPr>
          <a:xfrm>
            <a:off x="928687" y="1640232"/>
            <a:ext cx="8604000" cy="276999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rtlCol="0" anchor="b" anchorCtr="0">
            <a:spAutoFit/>
          </a:bodyPr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2400" spc="20" baseline="0" dirty="0">
                <a:solidFill>
                  <a:srgbClr val="19266B"/>
                </a:solidFill>
              </a:rPr>
              <a:t>a) </a:t>
            </a:r>
            <a:r>
              <a:rPr lang="pt-BR" sz="1800" b="1" kern="2400" spc="20" baseline="0" dirty="0">
                <a:solidFill>
                  <a:srgbClr val="19266B"/>
                </a:solidFill>
                <a:latin typeface="+mn-lt"/>
                <a:ea typeface="+mn-ea"/>
                <a:cs typeface="+mn-cs"/>
              </a:rPr>
              <a:t>SCRIPTS PARA PROVISIONAMENTO DE INFRAESTRUTURA A</a:t>
            </a:r>
            <a:r>
              <a:rPr lang="pt-BR" sz="1800" b="1" kern="2400" spc="20" baseline="0" dirty="0">
                <a:solidFill>
                  <a:srgbClr val="19266B"/>
                </a:solidFill>
              </a:rPr>
              <a:t> PARTIR DA FERRAMENTA: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48614ED5-BD5E-4882-BF75-99FBC0D3D856}"/>
              </a:ext>
            </a:extLst>
          </p:cNvPr>
          <p:cNvSpPr txBox="1"/>
          <p:nvPr userDrawn="1"/>
        </p:nvSpPr>
        <p:spPr>
          <a:xfrm>
            <a:off x="10218057" y="855785"/>
            <a:ext cx="5286199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ctr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800" b="1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SEÇÃO 3 – </a:t>
            </a:r>
            <a:r>
              <a:rPr lang="pt-BR" sz="1800" b="0" kern="1200" spc="100" dirty="0">
                <a:solidFill>
                  <a:srgbClr val="393683"/>
                </a:solidFill>
                <a:latin typeface="+mn-lt"/>
                <a:ea typeface="+mn-ea"/>
                <a:cs typeface="+mn-cs"/>
              </a:rPr>
              <a:t>Scripts de Infraestrutura como Código</a:t>
            </a:r>
          </a:p>
        </p:txBody>
      </p:sp>
      <p:sp>
        <p:nvSpPr>
          <p:cNvPr id="13" name="Espaço Reservado para Texto 9">
            <a:extLst>
              <a:ext uri="{FF2B5EF4-FFF2-40B4-BE49-F238E27FC236}">
                <a16:creationId xmlns:a16="http://schemas.microsoft.com/office/drawing/2014/main" id="{11188E22-FE13-450E-9AD7-00D630A0CE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532687" y="1639268"/>
            <a:ext cx="2808000" cy="277200"/>
          </a:xfrm>
          <a:prstGeom prst="rect">
            <a:avLst/>
          </a:prstGeom>
          <a:solidFill>
            <a:srgbClr val="EEEEFC"/>
          </a:solidFill>
        </p:spPr>
        <p:txBody>
          <a:bodyPr lIns="36000" tIns="0" rIns="0" bIns="0"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a ferramenta utilizada.</a:t>
            </a:r>
          </a:p>
        </p:txBody>
      </p:sp>
      <p:sp>
        <p:nvSpPr>
          <p:cNvPr id="11" name="Espaço Reservado para Texto 9">
            <a:extLst>
              <a:ext uri="{FF2B5EF4-FFF2-40B4-BE49-F238E27FC236}">
                <a16:creationId xmlns:a16="http://schemas.microsoft.com/office/drawing/2014/main" id="{B4FAFF87-9615-4DB8-A636-FF9CAF0D29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8" y="2282795"/>
            <a:ext cx="14544674" cy="6588000"/>
          </a:xfrm>
          <a:prstGeom prst="rect">
            <a:avLst/>
          </a:prstGeom>
          <a:solidFill>
            <a:srgbClr val="EEEEFC"/>
          </a:solidFill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Cole aqui o link.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D8868DBC-D79D-4952-8E00-3AA71093F44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022433613"/>
              </p:ext>
            </p:extLst>
          </p:nvPr>
        </p:nvGraphicFramePr>
        <p:xfrm>
          <a:off x="1193799" y="1904081"/>
          <a:ext cx="3888000" cy="2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8000">
                  <a:extLst>
                    <a:ext uri="{9D8B030D-6E8A-4147-A177-3AD203B41FA5}">
                      <a16:colId xmlns:a16="http://schemas.microsoft.com/office/drawing/2014/main" val="1842292192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pt-BR" sz="1600" b="0" kern="2000" spc="-10" baseline="0" dirty="0">
                          <a:solidFill>
                            <a:srgbClr val="53559B"/>
                          </a:solidFill>
                        </a:rPr>
                        <a:t>Insira o link de acesso ao repositório (GitHub).</a:t>
                      </a:r>
                    </a:p>
                  </a:txBody>
                  <a:tcPr marL="0" marR="0" marT="0" marB="0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21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72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33" r:id="rId2"/>
    <p:sldLayoutId id="2147483696" r:id="rId3"/>
    <p:sldLayoutId id="2147483706" r:id="rId4"/>
    <p:sldLayoutId id="2147483726" r:id="rId5"/>
    <p:sldLayoutId id="2147483727" r:id="rId6"/>
    <p:sldLayoutId id="2147483734" r:id="rId7"/>
    <p:sldLayoutId id="2147483728" r:id="rId8"/>
    <p:sldLayoutId id="2147483729" r:id="rId9"/>
    <p:sldLayoutId id="2147483735" r:id="rId10"/>
    <p:sldLayoutId id="2147483731" r:id="rId11"/>
    <p:sldLayoutId id="2147483694" r:id="rId12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9980E9-187B-41BE-8F52-63F0BAC645A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Daiane Deponti Bolzan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5047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4878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6EC7D3-5A22-4E4C-A827-68C7878637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0C734D-B74A-49B4-81F9-B095FD7D62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0266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0123114-87BF-4523-A231-EA598A2BD8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584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99296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0796DCB6-D43A-4EB7-8614-1476A7E4B4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A21E794-B8F1-4074-A736-C3EC5824AD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0139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B1C23B81-E62A-4DBE-B9A9-C4B80D49122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0702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667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E120464-6849-45E5-BCA4-D72C557D94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10AAEE1E-24CB-4CA6-848A-9AF9798EED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169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2237</TotalTime>
  <Words>4</Words>
  <Application>Microsoft Office PowerPoint</Application>
  <PresentationFormat>Personalizar</PresentationFormat>
  <Paragraphs>2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DAIANE DEPONTI BOLZAN</cp:lastModifiedBy>
  <cp:revision>275</cp:revision>
  <dcterms:created xsi:type="dcterms:W3CDTF">2024-07-05T13:08:06Z</dcterms:created>
  <dcterms:modified xsi:type="dcterms:W3CDTF">2026-05-24T17:12:04Z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2025-05-06T18:05:23Z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f7eb1f72-4224-4c80-b912-b5ba8cf00994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