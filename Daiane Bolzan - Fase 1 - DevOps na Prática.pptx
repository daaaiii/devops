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</p:sldMasterIdLst>
  <p:notesMasterIdLst>
    <p:notesMasterId r:id="rId26"/>
  </p:notesMasterIdLst>
  <p:handoutMasterIdLst>
    <p:handoutMasterId r:id="rId27"/>
  </p:handoutMasterIdLst>
  <p:sldIdLst>
    <p:sldId id="288" r:id="rId5"/>
    <p:sldId id="325" r:id="rId6"/>
    <p:sldId id="301" r:id="rId7"/>
    <p:sldId id="302" r:id="rId8"/>
    <p:sldId id="328" r:id="rId9"/>
    <p:sldId id="329" r:id="rId10"/>
    <p:sldId id="330" r:id="rId11"/>
    <p:sldId id="331" r:id="rId12"/>
    <p:sldId id="332" r:id="rId13"/>
    <p:sldId id="333" r:id="rId14"/>
    <p:sldId id="334" r:id="rId15"/>
    <p:sldId id="326" r:id="rId16"/>
    <p:sldId id="335" r:id="rId17"/>
    <p:sldId id="336" r:id="rId18"/>
    <p:sldId id="327" r:id="rId19"/>
    <p:sldId id="293" r:id="rId20"/>
    <p:sldId id="304" r:id="rId21"/>
    <p:sldId id="321" r:id="rId22"/>
    <p:sldId id="323" r:id="rId23"/>
    <p:sldId id="324" r:id="rId24"/>
    <p:sldId id="300" r:id="rId25"/>
  </p:sldIdLst>
  <p:sldSz cx="16402050" cy="960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DB409441-E25A-462F-9A2D-B5D2AB63FBF8}">
          <p14:sldIdLst>
            <p14:sldId id="288"/>
            <p14:sldId id="325"/>
            <p14:sldId id="301"/>
            <p14:sldId id="302"/>
            <p14:sldId id="328"/>
            <p14:sldId id="329"/>
            <p14:sldId id="330"/>
            <p14:sldId id="331"/>
            <p14:sldId id="332"/>
            <p14:sldId id="333"/>
            <p14:sldId id="334"/>
            <p14:sldId id="326"/>
            <p14:sldId id="335"/>
            <p14:sldId id="336"/>
            <p14:sldId id="327"/>
            <p14:sldId id="293"/>
            <p14:sldId id="304"/>
            <p14:sldId id="321"/>
            <p14:sldId id="323"/>
            <p14:sldId id="324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faela Boletti Duraes Souto" initials="RBDS" lastIdx="0" clrIdx="0">
    <p:extLst>
      <p:ext uri="{19B8F6BF-5375-455C-9EA6-DF929625EA0E}">
        <p15:presenceInfo xmlns:p15="http://schemas.microsoft.com/office/powerpoint/2012/main" userId="S-1-5-21-602162358-1580818891-839522115-280194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559B"/>
    <a:srgbClr val="C3A77A"/>
    <a:srgbClr val="9E7E54"/>
    <a:srgbClr val="AE9780"/>
    <a:srgbClr val="9999FF"/>
    <a:srgbClr val="85677A"/>
    <a:srgbClr val="A87F6E"/>
    <a:srgbClr val="EEEEFC"/>
    <a:srgbClr val="19266B"/>
    <a:srgbClr val="3936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D8B8B3-1BEA-4786-B464-266712C3C41F}" v="61" dt="2026-05-31T23:39:50.8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Estilo Médio 1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344D84-9AFB-497E-A393-DC336BA19D2E}" styleName="Estilo Médio 3 - Ênfas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32" autoAdjust="0"/>
    <p:restoredTop sz="91704" autoAdjust="0"/>
  </p:normalViewPr>
  <p:slideViewPr>
    <p:cSldViewPr snapToGrid="0">
      <p:cViewPr varScale="1">
        <p:scale>
          <a:sx n="70" d="100"/>
          <a:sy n="70" d="100"/>
        </p:scale>
        <p:origin x="121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-144"/>
    </p:cViewPr>
  </p:sorterViewPr>
  <p:notesViewPr>
    <p:cSldViewPr snapToGrid="0">
      <p:cViewPr>
        <p:scale>
          <a:sx n="1" d="2"/>
          <a:sy n="1" d="2"/>
        </p:scale>
        <p:origin x="3108" y="52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IANE DEPONTI BOLZAN" userId="56e15508-9627-43d3-b08d-53c2183e9f73" providerId="ADAL" clId="{05EFCEA0-A524-441A-BBCD-50F6F0056890}"/>
    <pc:docChg chg="undo custSel addSld delSld modSld modSection">
      <pc:chgData name="DAIANE DEPONTI BOLZAN" userId="56e15508-9627-43d3-b08d-53c2183e9f73" providerId="ADAL" clId="{05EFCEA0-A524-441A-BBCD-50F6F0056890}" dt="2026-05-31T23:39:50.886" v="656"/>
      <pc:docMkLst>
        <pc:docMk/>
      </pc:docMkLst>
      <pc:sldChg chg="modSp">
        <pc:chgData name="DAIANE DEPONTI BOLZAN" userId="56e15508-9627-43d3-b08d-53c2183e9f73" providerId="ADAL" clId="{05EFCEA0-A524-441A-BBCD-50F6F0056890}" dt="2026-05-31T23:22:46.957" v="6"/>
        <pc:sldMkLst>
          <pc:docMk/>
          <pc:sldMk cId="4066044570" sldId="302"/>
        </pc:sldMkLst>
        <pc:spChg chg="mod">
          <ac:chgData name="DAIANE DEPONTI BOLZAN" userId="56e15508-9627-43d3-b08d-53c2183e9f73" providerId="ADAL" clId="{05EFCEA0-A524-441A-BBCD-50F6F0056890}" dt="2026-05-31T23:22:46.957" v="6"/>
          <ac:spMkLst>
            <pc:docMk/>
            <pc:sldMk cId="4066044570" sldId="302"/>
            <ac:spMk id="3" creationId="{486EC7D3-5A22-4E4C-A827-68C78786376B}"/>
          </ac:spMkLst>
        </pc:spChg>
      </pc:sldChg>
      <pc:sldChg chg="modSp mod">
        <pc:chgData name="DAIANE DEPONTI BOLZAN" userId="56e15508-9627-43d3-b08d-53c2183e9f73" providerId="ADAL" clId="{05EFCEA0-A524-441A-BBCD-50F6F0056890}" dt="2026-05-31T23:21:12.527" v="1" actId="113"/>
        <pc:sldMkLst>
          <pc:docMk/>
          <pc:sldMk cId="1260139504" sldId="304"/>
        </pc:sldMkLst>
        <pc:spChg chg="mod">
          <ac:chgData name="DAIANE DEPONTI BOLZAN" userId="56e15508-9627-43d3-b08d-53c2183e9f73" providerId="ADAL" clId="{05EFCEA0-A524-441A-BBCD-50F6F0056890}" dt="2026-05-31T23:21:12.527" v="1" actId="113"/>
          <ac:spMkLst>
            <pc:docMk/>
            <pc:sldMk cId="1260139504" sldId="304"/>
            <ac:spMk id="2" creationId="{0796DCB6-D43A-4EB7-8614-1476A7E4B4E8}"/>
          </ac:spMkLst>
        </pc:spChg>
      </pc:sldChg>
      <pc:sldChg chg="addSp modSp mod">
        <pc:chgData name="DAIANE DEPONTI BOLZAN" userId="56e15508-9627-43d3-b08d-53c2183e9f73" providerId="ADAL" clId="{05EFCEA0-A524-441A-BBCD-50F6F0056890}" dt="2026-05-31T23:21:51.342" v="4" actId="1076"/>
        <pc:sldMkLst>
          <pc:docMk/>
          <pc:sldMk cId="3670702398" sldId="321"/>
        </pc:sldMkLst>
        <pc:picChg chg="add mod">
          <ac:chgData name="DAIANE DEPONTI BOLZAN" userId="56e15508-9627-43d3-b08d-53c2183e9f73" providerId="ADAL" clId="{05EFCEA0-A524-441A-BBCD-50F6F0056890}" dt="2026-05-31T23:21:51.342" v="4" actId="1076"/>
          <ac:picMkLst>
            <pc:docMk/>
            <pc:sldMk cId="3670702398" sldId="321"/>
            <ac:picMk id="4" creationId="{171DE313-4A14-F9BB-DFCD-39077EFFF66A}"/>
          </ac:picMkLst>
        </pc:picChg>
      </pc:sldChg>
      <pc:sldChg chg="addSp delSp modSp mod">
        <pc:chgData name="DAIANE DEPONTI BOLZAN" userId="56e15508-9627-43d3-b08d-53c2183e9f73" providerId="ADAL" clId="{05EFCEA0-A524-441A-BBCD-50F6F0056890}" dt="2026-05-31T23:36:22.240" v="617" actId="20577"/>
        <pc:sldMkLst>
          <pc:docMk/>
          <pc:sldMk cId="600266859" sldId="326"/>
        </pc:sldMkLst>
        <pc:spChg chg="mod">
          <ac:chgData name="DAIANE DEPONTI BOLZAN" userId="56e15508-9627-43d3-b08d-53c2183e9f73" providerId="ADAL" clId="{05EFCEA0-A524-441A-BBCD-50F6F0056890}" dt="2026-05-31T23:36:22.240" v="617" actId="20577"/>
          <ac:spMkLst>
            <pc:docMk/>
            <pc:sldMk cId="600266859" sldId="326"/>
            <ac:spMk id="3" creationId="{ED0C734D-B74A-49B4-81F9-B095FD7D62E3}"/>
          </ac:spMkLst>
        </pc:spChg>
        <pc:graphicFrameChg chg="add del mod modGraphic">
          <ac:chgData name="DAIANE DEPONTI BOLZAN" userId="56e15508-9627-43d3-b08d-53c2183e9f73" providerId="ADAL" clId="{05EFCEA0-A524-441A-BBCD-50F6F0056890}" dt="2026-05-31T23:34:44.910" v="218" actId="478"/>
          <ac:graphicFrameMkLst>
            <pc:docMk/>
            <pc:sldMk cId="600266859" sldId="326"/>
            <ac:graphicFrameMk id="2" creationId="{3EF8792B-71E7-D8D4-8F48-96F1B98ED4C4}"/>
          </ac:graphicFrameMkLst>
        </pc:graphicFrameChg>
      </pc:sldChg>
      <pc:sldChg chg="addSp modSp mod">
        <pc:chgData name="DAIANE DEPONTI BOLZAN" userId="56e15508-9627-43d3-b08d-53c2183e9f73" providerId="ADAL" clId="{05EFCEA0-A524-441A-BBCD-50F6F0056890}" dt="2026-05-31T23:39:50.886" v="656"/>
        <pc:sldMkLst>
          <pc:docMk/>
          <pc:sldMk cId="1375584897" sldId="327"/>
        </pc:sldMkLst>
        <pc:spChg chg="mod">
          <ac:chgData name="DAIANE DEPONTI BOLZAN" userId="56e15508-9627-43d3-b08d-53c2183e9f73" providerId="ADAL" clId="{05EFCEA0-A524-441A-BBCD-50F6F0056890}" dt="2026-05-31T23:39:50.886" v="656"/>
          <ac:spMkLst>
            <pc:docMk/>
            <pc:sldMk cId="1375584897" sldId="327"/>
            <ac:spMk id="3" creationId="{B0123114-87BF-4523-A231-EA598A2BD858}"/>
          </ac:spMkLst>
        </pc:spChg>
        <pc:graphicFrameChg chg="add mod modGraphic">
          <ac:chgData name="DAIANE DEPONTI BOLZAN" userId="56e15508-9627-43d3-b08d-53c2183e9f73" providerId="ADAL" clId="{05EFCEA0-A524-441A-BBCD-50F6F0056890}" dt="2026-05-31T23:39:29.497" v="641" actId="1076"/>
          <ac:graphicFrameMkLst>
            <pc:docMk/>
            <pc:sldMk cId="1375584897" sldId="327"/>
            <ac:graphicFrameMk id="5" creationId="{74EA80A4-C754-8181-C466-FA354B867BA2}"/>
          </ac:graphicFrameMkLst>
        </pc:graphicFrameChg>
        <pc:picChg chg="add mod">
          <ac:chgData name="DAIANE DEPONTI BOLZAN" userId="56e15508-9627-43d3-b08d-53c2183e9f73" providerId="ADAL" clId="{05EFCEA0-A524-441A-BBCD-50F6F0056890}" dt="2026-05-31T23:39:34.793" v="643" actId="1076"/>
          <ac:picMkLst>
            <pc:docMk/>
            <pc:sldMk cId="1375584897" sldId="327"/>
            <ac:picMk id="4" creationId="{4962E595-E068-998E-18B9-0577732FBA8B}"/>
          </ac:picMkLst>
        </pc:picChg>
      </pc:sldChg>
      <pc:sldChg chg="addSp delSp modSp add mod">
        <pc:chgData name="DAIANE DEPONTI BOLZAN" userId="56e15508-9627-43d3-b08d-53c2183e9f73" providerId="ADAL" clId="{05EFCEA0-A524-441A-BBCD-50F6F0056890}" dt="2026-05-31T23:25:18.639" v="26" actId="14100"/>
        <pc:sldMkLst>
          <pc:docMk/>
          <pc:sldMk cId="3789650125" sldId="328"/>
        </pc:sldMkLst>
        <pc:spChg chg="mod">
          <ac:chgData name="DAIANE DEPONTI BOLZAN" userId="56e15508-9627-43d3-b08d-53c2183e9f73" providerId="ADAL" clId="{05EFCEA0-A524-441A-BBCD-50F6F0056890}" dt="2026-05-31T23:23:10.977" v="8" actId="20577"/>
          <ac:spMkLst>
            <pc:docMk/>
            <pc:sldMk cId="3789650125" sldId="328"/>
            <ac:spMk id="3" creationId="{5C874A66-1634-72F5-805D-86D16D9555F4}"/>
          </ac:spMkLst>
        </pc:spChg>
        <pc:spChg chg="add mod">
          <ac:chgData name="DAIANE DEPONTI BOLZAN" userId="56e15508-9627-43d3-b08d-53c2183e9f73" providerId="ADAL" clId="{05EFCEA0-A524-441A-BBCD-50F6F0056890}" dt="2026-05-31T23:23:13.544" v="10"/>
          <ac:spMkLst>
            <pc:docMk/>
            <pc:sldMk cId="3789650125" sldId="328"/>
            <ac:spMk id="4" creationId="{D190EBCA-A082-6426-90B7-AD57638C5ED7}"/>
          </ac:spMkLst>
        </pc:spChg>
        <pc:spChg chg="add del mod">
          <ac:chgData name="DAIANE DEPONTI BOLZAN" userId="56e15508-9627-43d3-b08d-53c2183e9f73" providerId="ADAL" clId="{05EFCEA0-A524-441A-BBCD-50F6F0056890}" dt="2026-05-31T23:25:18.639" v="26" actId="14100"/>
          <ac:spMkLst>
            <pc:docMk/>
            <pc:sldMk cId="3789650125" sldId="328"/>
            <ac:spMk id="6" creationId="{853B16F8-BF80-65CD-5024-FB18206E7919}"/>
          </ac:spMkLst>
        </pc:spChg>
        <pc:graphicFrameChg chg="add mod">
          <ac:chgData name="DAIANE DEPONTI BOLZAN" userId="56e15508-9627-43d3-b08d-53c2183e9f73" providerId="ADAL" clId="{05EFCEA0-A524-441A-BBCD-50F6F0056890}" dt="2026-05-31T23:23:11.480" v="9"/>
          <ac:graphicFrameMkLst>
            <pc:docMk/>
            <pc:sldMk cId="3789650125" sldId="328"/>
            <ac:graphicFrameMk id="2" creationId="{2F4DAFE0-11EF-22B5-1058-29AE2EE4B913}"/>
          </ac:graphicFrameMkLst>
        </pc:graphicFrameChg>
        <pc:graphicFrameChg chg="add mod modGraphic">
          <ac:chgData name="DAIANE DEPONTI BOLZAN" userId="56e15508-9627-43d3-b08d-53c2183e9f73" providerId="ADAL" clId="{05EFCEA0-A524-441A-BBCD-50F6F0056890}" dt="2026-05-31T23:23:54.468" v="13" actId="12385"/>
          <ac:graphicFrameMkLst>
            <pc:docMk/>
            <pc:sldMk cId="3789650125" sldId="328"/>
            <ac:graphicFrameMk id="5" creationId="{E61EE2FA-1107-63C9-DD3B-D3D53B115138}"/>
          </ac:graphicFrameMkLst>
        </pc:graphicFrameChg>
      </pc:sldChg>
      <pc:sldChg chg="addSp delSp modSp add mod">
        <pc:chgData name="DAIANE DEPONTI BOLZAN" userId="56e15508-9627-43d3-b08d-53c2183e9f73" providerId="ADAL" clId="{05EFCEA0-A524-441A-BBCD-50F6F0056890}" dt="2026-05-31T23:27:25.780" v="72" actId="14100"/>
        <pc:sldMkLst>
          <pc:docMk/>
          <pc:sldMk cId="423612267" sldId="329"/>
        </pc:sldMkLst>
        <pc:spChg chg="mod">
          <ac:chgData name="DAIANE DEPONTI BOLZAN" userId="56e15508-9627-43d3-b08d-53c2183e9f73" providerId="ADAL" clId="{05EFCEA0-A524-441A-BBCD-50F6F0056890}" dt="2026-05-31T23:27:14.044" v="71" actId="113"/>
          <ac:spMkLst>
            <pc:docMk/>
            <pc:sldMk cId="423612267" sldId="329"/>
            <ac:spMk id="3" creationId="{8431D1BB-7291-7BB3-4C31-58B99A976384}"/>
          </ac:spMkLst>
        </pc:spChg>
        <pc:spChg chg="add del mod">
          <ac:chgData name="DAIANE DEPONTI BOLZAN" userId="56e15508-9627-43d3-b08d-53c2183e9f73" providerId="ADAL" clId="{05EFCEA0-A524-441A-BBCD-50F6F0056890}" dt="2026-05-31T23:26:43.605" v="37" actId="478"/>
          <ac:spMkLst>
            <pc:docMk/>
            <pc:sldMk cId="423612267" sldId="329"/>
            <ac:spMk id="4" creationId="{8C6DFF4D-DA98-86C6-88C0-10B1FA6D9016}"/>
          </ac:spMkLst>
        </pc:spChg>
        <pc:spChg chg="del">
          <ac:chgData name="DAIANE DEPONTI BOLZAN" userId="56e15508-9627-43d3-b08d-53c2183e9f73" providerId="ADAL" clId="{05EFCEA0-A524-441A-BBCD-50F6F0056890}" dt="2026-05-31T23:25:33.606" v="28" actId="478"/>
          <ac:spMkLst>
            <pc:docMk/>
            <pc:sldMk cId="423612267" sldId="329"/>
            <ac:spMk id="6" creationId="{3DE4720B-88AC-D45C-A2FD-29794D5D3015}"/>
          </ac:spMkLst>
        </pc:spChg>
        <pc:graphicFrameChg chg="add mod modGraphic">
          <ac:chgData name="DAIANE DEPONTI BOLZAN" userId="56e15508-9627-43d3-b08d-53c2183e9f73" providerId="ADAL" clId="{05EFCEA0-A524-441A-BBCD-50F6F0056890}" dt="2026-05-31T23:27:25.780" v="72" actId="14100"/>
          <ac:graphicFrameMkLst>
            <pc:docMk/>
            <pc:sldMk cId="423612267" sldId="329"/>
            <ac:graphicFrameMk id="2" creationId="{F7F47A03-81F9-2954-A819-0460794126FA}"/>
          </ac:graphicFrameMkLst>
        </pc:graphicFrameChg>
        <pc:graphicFrameChg chg="del">
          <ac:chgData name="DAIANE DEPONTI BOLZAN" userId="56e15508-9627-43d3-b08d-53c2183e9f73" providerId="ADAL" clId="{05EFCEA0-A524-441A-BBCD-50F6F0056890}" dt="2026-05-31T23:25:35.505" v="29" actId="478"/>
          <ac:graphicFrameMkLst>
            <pc:docMk/>
            <pc:sldMk cId="423612267" sldId="329"/>
            <ac:graphicFrameMk id="5" creationId="{DE4CD74E-E12A-4572-BEE7-E20F5B7D683D}"/>
          </ac:graphicFrameMkLst>
        </pc:graphicFrameChg>
      </pc:sldChg>
      <pc:sldChg chg="delSp modSp add mod">
        <pc:chgData name="DAIANE DEPONTI BOLZAN" userId="56e15508-9627-43d3-b08d-53c2183e9f73" providerId="ADAL" clId="{05EFCEA0-A524-441A-BBCD-50F6F0056890}" dt="2026-05-31T23:28:03.249" v="77" actId="12"/>
        <pc:sldMkLst>
          <pc:docMk/>
          <pc:sldMk cId="2423736681" sldId="330"/>
        </pc:sldMkLst>
        <pc:spChg chg="mod">
          <ac:chgData name="DAIANE DEPONTI BOLZAN" userId="56e15508-9627-43d3-b08d-53c2183e9f73" providerId="ADAL" clId="{05EFCEA0-A524-441A-BBCD-50F6F0056890}" dt="2026-05-31T23:28:03.249" v="77" actId="12"/>
          <ac:spMkLst>
            <pc:docMk/>
            <pc:sldMk cId="2423736681" sldId="330"/>
            <ac:spMk id="3" creationId="{15200F98-5E64-DD21-885E-0541F32277D6}"/>
          </ac:spMkLst>
        </pc:spChg>
        <pc:graphicFrameChg chg="del">
          <ac:chgData name="DAIANE DEPONTI BOLZAN" userId="56e15508-9627-43d3-b08d-53c2183e9f73" providerId="ADAL" clId="{05EFCEA0-A524-441A-BBCD-50F6F0056890}" dt="2026-05-31T23:27:43.321" v="74" actId="478"/>
          <ac:graphicFrameMkLst>
            <pc:docMk/>
            <pc:sldMk cId="2423736681" sldId="330"/>
            <ac:graphicFrameMk id="2" creationId="{C6D34240-AF53-4899-34E4-D8A28BC6CC6F}"/>
          </ac:graphicFrameMkLst>
        </pc:graphicFrameChg>
      </pc:sldChg>
      <pc:sldChg chg="addSp delSp modSp add mod">
        <pc:chgData name="DAIANE DEPONTI BOLZAN" userId="56e15508-9627-43d3-b08d-53c2183e9f73" providerId="ADAL" clId="{05EFCEA0-A524-441A-BBCD-50F6F0056890}" dt="2026-05-31T23:30:15.746" v="160" actId="108"/>
        <pc:sldMkLst>
          <pc:docMk/>
          <pc:sldMk cId="3467603405" sldId="331"/>
        </pc:sldMkLst>
        <pc:spChg chg="add del mod">
          <ac:chgData name="DAIANE DEPONTI BOLZAN" userId="56e15508-9627-43d3-b08d-53c2183e9f73" providerId="ADAL" clId="{05EFCEA0-A524-441A-BBCD-50F6F0056890}" dt="2026-05-31T23:30:15.746" v="160" actId="108"/>
          <ac:spMkLst>
            <pc:docMk/>
            <pc:sldMk cId="3467603405" sldId="331"/>
            <ac:spMk id="3" creationId="{D0C92FF5-E4E1-BB7C-DA31-E1262003F481}"/>
          </ac:spMkLst>
        </pc:spChg>
        <pc:spChg chg="add mod">
          <ac:chgData name="DAIANE DEPONTI BOLZAN" userId="56e15508-9627-43d3-b08d-53c2183e9f73" providerId="ADAL" clId="{05EFCEA0-A524-441A-BBCD-50F6F0056890}" dt="2026-05-31T23:28:47.714" v="81"/>
          <ac:spMkLst>
            <pc:docMk/>
            <pc:sldMk cId="3467603405" sldId="331"/>
            <ac:spMk id="4" creationId="{059E907B-15B7-D3C4-62EF-7C95CB5AB63D}"/>
          </ac:spMkLst>
        </pc:spChg>
        <pc:spChg chg="add mod">
          <ac:chgData name="DAIANE DEPONTI BOLZAN" userId="56e15508-9627-43d3-b08d-53c2183e9f73" providerId="ADAL" clId="{05EFCEA0-A524-441A-BBCD-50F6F0056890}" dt="2026-05-31T23:28:50.725" v="83"/>
          <ac:spMkLst>
            <pc:docMk/>
            <pc:sldMk cId="3467603405" sldId="331"/>
            <ac:spMk id="6" creationId="{69E9C33B-7EBB-FE5B-8021-2DA97CB0A2BB}"/>
          </ac:spMkLst>
        </pc:spChg>
        <pc:graphicFrameChg chg="add mod">
          <ac:chgData name="DAIANE DEPONTI BOLZAN" userId="56e15508-9627-43d3-b08d-53c2183e9f73" providerId="ADAL" clId="{05EFCEA0-A524-441A-BBCD-50F6F0056890}" dt="2026-05-31T23:28:43.687" v="80"/>
          <ac:graphicFrameMkLst>
            <pc:docMk/>
            <pc:sldMk cId="3467603405" sldId="331"/>
            <ac:graphicFrameMk id="2" creationId="{742EDC2C-9FD8-8A53-7321-010EE1D44065}"/>
          </ac:graphicFrameMkLst>
        </pc:graphicFrameChg>
        <pc:graphicFrameChg chg="add mod">
          <ac:chgData name="DAIANE DEPONTI BOLZAN" userId="56e15508-9627-43d3-b08d-53c2183e9f73" providerId="ADAL" clId="{05EFCEA0-A524-441A-BBCD-50F6F0056890}" dt="2026-05-31T23:28:49.471" v="82"/>
          <ac:graphicFrameMkLst>
            <pc:docMk/>
            <pc:sldMk cId="3467603405" sldId="331"/>
            <ac:graphicFrameMk id="5" creationId="{807E543D-5A99-A9D0-8D54-5C3C41546A74}"/>
          </ac:graphicFrameMkLst>
        </pc:graphicFrameChg>
        <pc:graphicFrameChg chg="add mod modGraphic">
          <ac:chgData name="DAIANE DEPONTI BOLZAN" userId="56e15508-9627-43d3-b08d-53c2183e9f73" providerId="ADAL" clId="{05EFCEA0-A524-441A-BBCD-50F6F0056890}" dt="2026-05-31T23:29:43.245" v="157" actId="14734"/>
          <ac:graphicFrameMkLst>
            <pc:docMk/>
            <pc:sldMk cId="3467603405" sldId="331"/>
            <ac:graphicFrameMk id="7" creationId="{16893675-9D45-C353-B617-5F475881E6AE}"/>
          </ac:graphicFrameMkLst>
        </pc:graphicFrameChg>
      </pc:sldChg>
      <pc:sldChg chg="addSp delSp modSp add mod">
        <pc:chgData name="DAIANE DEPONTI BOLZAN" userId="56e15508-9627-43d3-b08d-53c2183e9f73" providerId="ADAL" clId="{05EFCEA0-A524-441A-BBCD-50F6F0056890}" dt="2026-05-31T23:31:16.815" v="176" actId="12385"/>
        <pc:sldMkLst>
          <pc:docMk/>
          <pc:sldMk cId="1305872043" sldId="332"/>
        </pc:sldMkLst>
        <pc:spChg chg="mod">
          <ac:chgData name="DAIANE DEPONTI BOLZAN" userId="56e15508-9627-43d3-b08d-53c2183e9f73" providerId="ADAL" clId="{05EFCEA0-A524-441A-BBCD-50F6F0056890}" dt="2026-05-31T23:30:33.971" v="170" actId="20577"/>
          <ac:spMkLst>
            <pc:docMk/>
            <pc:sldMk cId="1305872043" sldId="332"/>
            <ac:spMk id="3" creationId="{B500D0EC-7FE2-3B78-48AB-D7C0C35F8F31}"/>
          </ac:spMkLst>
        </pc:spChg>
        <pc:graphicFrameChg chg="add mod modGraphic">
          <ac:chgData name="DAIANE DEPONTI BOLZAN" userId="56e15508-9627-43d3-b08d-53c2183e9f73" providerId="ADAL" clId="{05EFCEA0-A524-441A-BBCD-50F6F0056890}" dt="2026-05-31T23:31:16.815" v="176" actId="12385"/>
          <ac:graphicFrameMkLst>
            <pc:docMk/>
            <pc:sldMk cId="1305872043" sldId="332"/>
            <ac:graphicFrameMk id="2" creationId="{783CB874-8121-25C7-D98C-EBAE98605753}"/>
          </ac:graphicFrameMkLst>
        </pc:graphicFrameChg>
        <pc:graphicFrameChg chg="del modGraphic">
          <ac:chgData name="DAIANE DEPONTI BOLZAN" userId="56e15508-9627-43d3-b08d-53c2183e9f73" providerId="ADAL" clId="{05EFCEA0-A524-441A-BBCD-50F6F0056890}" dt="2026-05-31T23:31:10.732" v="174" actId="478"/>
          <ac:graphicFrameMkLst>
            <pc:docMk/>
            <pc:sldMk cId="1305872043" sldId="332"/>
            <ac:graphicFrameMk id="7" creationId="{61331922-12EC-EE5B-9BEB-DA171EDEA400}"/>
          </ac:graphicFrameMkLst>
        </pc:graphicFrameChg>
      </pc:sldChg>
      <pc:sldChg chg="addSp delSp modSp add mod">
        <pc:chgData name="DAIANE DEPONTI BOLZAN" userId="56e15508-9627-43d3-b08d-53c2183e9f73" providerId="ADAL" clId="{05EFCEA0-A524-441A-BBCD-50F6F0056890}" dt="2026-05-31T23:32:53.716" v="201"/>
        <pc:sldMkLst>
          <pc:docMk/>
          <pc:sldMk cId="1961475540" sldId="333"/>
        </pc:sldMkLst>
        <pc:spChg chg="mod">
          <ac:chgData name="DAIANE DEPONTI BOLZAN" userId="56e15508-9627-43d3-b08d-53c2183e9f73" providerId="ADAL" clId="{05EFCEA0-A524-441A-BBCD-50F6F0056890}" dt="2026-05-31T23:31:53.406" v="197"/>
          <ac:spMkLst>
            <pc:docMk/>
            <pc:sldMk cId="1961475540" sldId="333"/>
            <ac:spMk id="3" creationId="{8B344BF5-B909-6195-3A52-378FBD38B22D}"/>
          </ac:spMkLst>
        </pc:spChg>
        <pc:graphicFrameChg chg="del">
          <ac:chgData name="DAIANE DEPONTI BOLZAN" userId="56e15508-9627-43d3-b08d-53c2183e9f73" providerId="ADAL" clId="{05EFCEA0-A524-441A-BBCD-50F6F0056890}" dt="2026-05-31T23:31:58.717" v="198" actId="478"/>
          <ac:graphicFrameMkLst>
            <pc:docMk/>
            <pc:sldMk cId="1961475540" sldId="333"/>
            <ac:graphicFrameMk id="2" creationId="{6BE0279F-5E8D-ACD5-9235-EB195A321ECE}"/>
          </ac:graphicFrameMkLst>
        </pc:graphicFrameChg>
        <pc:graphicFrameChg chg="add mod modGraphic">
          <ac:chgData name="DAIANE DEPONTI BOLZAN" userId="56e15508-9627-43d3-b08d-53c2183e9f73" providerId="ADAL" clId="{05EFCEA0-A524-441A-BBCD-50F6F0056890}" dt="2026-05-31T23:32:45.580" v="200" actId="12385"/>
          <ac:graphicFrameMkLst>
            <pc:docMk/>
            <pc:sldMk cId="1961475540" sldId="333"/>
            <ac:graphicFrameMk id="4" creationId="{E8C6845A-27BA-10C5-0B42-6DC3E8741995}"/>
          </ac:graphicFrameMkLst>
        </pc:graphicFrameChg>
        <pc:graphicFrameChg chg="add mod">
          <ac:chgData name="DAIANE DEPONTI BOLZAN" userId="56e15508-9627-43d3-b08d-53c2183e9f73" providerId="ADAL" clId="{05EFCEA0-A524-441A-BBCD-50F6F0056890}" dt="2026-05-31T23:32:53.716" v="201"/>
          <ac:graphicFrameMkLst>
            <pc:docMk/>
            <pc:sldMk cId="1961475540" sldId="333"/>
            <ac:graphicFrameMk id="5" creationId="{334BBBD1-D93E-EBC8-D7F8-4A0E1D5F18D7}"/>
          </ac:graphicFrameMkLst>
        </pc:graphicFrameChg>
      </pc:sldChg>
      <pc:sldChg chg="delSp modSp add mod">
        <pc:chgData name="DAIANE DEPONTI BOLZAN" userId="56e15508-9627-43d3-b08d-53c2183e9f73" providerId="ADAL" clId="{05EFCEA0-A524-441A-BBCD-50F6F0056890}" dt="2026-05-31T23:33:28.263" v="206" actId="12"/>
        <pc:sldMkLst>
          <pc:docMk/>
          <pc:sldMk cId="1690372770" sldId="334"/>
        </pc:sldMkLst>
        <pc:spChg chg="mod">
          <ac:chgData name="DAIANE DEPONTI BOLZAN" userId="56e15508-9627-43d3-b08d-53c2183e9f73" providerId="ADAL" clId="{05EFCEA0-A524-441A-BBCD-50F6F0056890}" dt="2026-05-31T23:33:28.263" v="206" actId="12"/>
          <ac:spMkLst>
            <pc:docMk/>
            <pc:sldMk cId="1690372770" sldId="334"/>
            <ac:spMk id="3" creationId="{41C178A6-7FD1-7C96-8918-DD4BFFBABF67}"/>
          </ac:spMkLst>
        </pc:spChg>
        <pc:graphicFrameChg chg="del">
          <ac:chgData name="DAIANE DEPONTI BOLZAN" userId="56e15508-9627-43d3-b08d-53c2183e9f73" providerId="ADAL" clId="{05EFCEA0-A524-441A-BBCD-50F6F0056890}" dt="2026-05-31T23:33:14.455" v="204" actId="478"/>
          <ac:graphicFrameMkLst>
            <pc:docMk/>
            <pc:sldMk cId="1690372770" sldId="334"/>
            <ac:graphicFrameMk id="4" creationId="{CA31EB90-1781-C9F6-8F0D-DF2B90730A85}"/>
          </ac:graphicFrameMkLst>
        </pc:graphicFrameChg>
        <pc:graphicFrameChg chg="del">
          <ac:chgData name="DAIANE DEPONTI BOLZAN" userId="56e15508-9627-43d3-b08d-53c2183e9f73" providerId="ADAL" clId="{05EFCEA0-A524-441A-BBCD-50F6F0056890}" dt="2026-05-31T23:33:11.917" v="203" actId="478"/>
          <ac:graphicFrameMkLst>
            <pc:docMk/>
            <pc:sldMk cId="1690372770" sldId="334"/>
            <ac:graphicFrameMk id="5" creationId="{852185D2-1D97-3EB1-356E-0A4C15F278F9}"/>
          </ac:graphicFrameMkLst>
        </pc:graphicFrameChg>
      </pc:sldChg>
      <pc:sldChg chg="addSp modSp add mod">
        <pc:chgData name="DAIANE DEPONTI BOLZAN" userId="56e15508-9627-43d3-b08d-53c2183e9f73" providerId="ADAL" clId="{05EFCEA0-A524-441A-BBCD-50F6F0056890}" dt="2026-05-31T23:36:43.166" v="619" actId="12385"/>
        <pc:sldMkLst>
          <pc:docMk/>
          <pc:sldMk cId="667494311" sldId="335"/>
        </pc:sldMkLst>
        <pc:graphicFrameChg chg="add mod modGraphic">
          <ac:chgData name="DAIANE DEPONTI BOLZAN" userId="56e15508-9627-43d3-b08d-53c2183e9f73" providerId="ADAL" clId="{05EFCEA0-A524-441A-BBCD-50F6F0056890}" dt="2026-05-31T23:36:43.166" v="619" actId="12385"/>
          <ac:graphicFrameMkLst>
            <pc:docMk/>
            <pc:sldMk cId="667494311" sldId="335"/>
            <ac:graphicFrameMk id="2" creationId="{55084A93-0F17-03E9-3E49-07E1637E0E66}"/>
          </ac:graphicFrameMkLst>
        </pc:graphicFrameChg>
      </pc:sldChg>
      <pc:sldChg chg="add del">
        <pc:chgData name="DAIANE DEPONTI BOLZAN" userId="56e15508-9627-43d3-b08d-53c2183e9f73" providerId="ADAL" clId="{05EFCEA0-A524-441A-BBCD-50F6F0056890}" dt="2026-05-31T23:34:39.802" v="215"/>
        <pc:sldMkLst>
          <pc:docMk/>
          <pc:sldMk cId="1469076622" sldId="335"/>
        </pc:sldMkLst>
      </pc:sldChg>
      <pc:sldChg chg="add del">
        <pc:chgData name="DAIANE DEPONTI BOLZAN" userId="56e15508-9627-43d3-b08d-53c2183e9f73" providerId="ADAL" clId="{05EFCEA0-A524-441A-BBCD-50F6F0056890}" dt="2026-05-31T23:34:50.476" v="220" actId="47"/>
        <pc:sldMkLst>
          <pc:docMk/>
          <pc:sldMk cId="3287375362" sldId="335"/>
        </pc:sldMkLst>
      </pc:sldChg>
      <pc:sldChg chg="addSp modSp add mod">
        <pc:chgData name="DAIANE DEPONTI BOLZAN" userId="56e15508-9627-43d3-b08d-53c2183e9f73" providerId="ADAL" clId="{05EFCEA0-A524-441A-BBCD-50F6F0056890}" dt="2026-05-31T23:37:52.403" v="627" actId="1076"/>
        <pc:sldMkLst>
          <pc:docMk/>
          <pc:sldMk cId="3106316518" sldId="336"/>
        </pc:sldMkLst>
        <pc:spChg chg="mod">
          <ac:chgData name="DAIANE DEPONTI BOLZAN" userId="56e15508-9627-43d3-b08d-53c2183e9f73" providerId="ADAL" clId="{05EFCEA0-A524-441A-BBCD-50F6F0056890}" dt="2026-05-31T23:37:29.297" v="623"/>
          <ac:spMkLst>
            <pc:docMk/>
            <pc:sldMk cId="3106316518" sldId="336"/>
            <ac:spMk id="3" creationId="{F0487FBA-B941-88F0-A1E0-9C1671D37687}"/>
          </ac:spMkLst>
        </pc:spChg>
        <pc:picChg chg="add mod">
          <ac:chgData name="DAIANE DEPONTI BOLZAN" userId="56e15508-9627-43d3-b08d-53c2183e9f73" providerId="ADAL" clId="{05EFCEA0-A524-441A-BBCD-50F6F0056890}" dt="2026-05-31T23:37:52.403" v="627" actId="1076"/>
          <ac:picMkLst>
            <pc:docMk/>
            <pc:sldMk cId="3106316518" sldId="336"/>
            <ac:picMk id="4" creationId="{E7CA5C10-18CD-AF29-6F69-8BEF03472E8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D7D07A88-457F-4574-B6BE-9519291766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5D7A07A-259D-4CEA-81CE-FEDACA8F63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2343C-BD3C-4650-924C-40706B7DFBCE}" type="datetimeFigureOut">
              <a:rPr lang="pt-BR" smtClean="0"/>
              <a:t>31/05/2026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7703FD9-7361-466E-91A1-4ADEB15814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58AADEA-D638-498E-9E05-EF298B306F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00BD3-4CF8-40A1-8E72-061B8653E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67225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858637-C724-49AC-97B9-A464C80FECDD}" type="datetimeFigureOut">
              <a:rPr lang="pt-BR" smtClean="0"/>
              <a:t>31/05/2026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792163" y="1143000"/>
            <a:ext cx="5273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FA6931-5E41-4AE2-9D49-4AAAAFF17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954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FA6931-5E41-4AE2-9D49-4AAAAFF17FA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571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bg>
      <p:bgPr>
        <a:blipFill dpi="0" rotWithShape="1">
          <a:blip r:embed="rId2" cstate="email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0A0C1047-DDEB-44F3-BA14-D5D5F27D52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5261" y="811755"/>
            <a:ext cx="3315187" cy="273128"/>
          </a:xfrm>
          <a:prstGeom prst="rect">
            <a:avLst/>
          </a:prstGeom>
        </p:spPr>
      </p:pic>
      <p:pic>
        <p:nvPicPr>
          <p:cNvPr id="9" name="Imagem 8" descr="Uma imagem contendo Logotipo&#10;&#10;Descrição gerada automaticamente">
            <a:extLst>
              <a:ext uri="{FF2B5EF4-FFF2-40B4-BE49-F238E27FC236}">
                <a16:creationId xmlns:a16="http://schemas.microsoft.com/office/drawing/2014/main" id="{082683C9-74AE-4684-A14E-41C2DCACD63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688" y="8159219"/>
            <a:ext cx="517261" cy="63022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E0A6C22-436C-4B77-A4F7-793D7337E944}"/>
              </a:ext>
            </a:extLst>
          </p:cNvPr>
          <p:cNvSpPr txBox="1"/>
          <p:nvPr userDrawn="1"/>
        </p:nvSpPr>
        <p:spPr>
          <a:xfrm>
            <a:off x="827201" y="3475196"/>
            <a:ext cx="14747649" cy="135421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pt-BR" sz="2400" b="0" kern="0" spc="50" baseline="0" dirty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rPr>
              <a:t>TEMPLATE PARA ENTREGA DO PROJETO DA DISCIPLINA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000" b="1" kern="0" spc="50" baseline="0" dirty="0" err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DevOPs</a:t>
            </a:r>
            <a:r>
              <a:rPr lang="pt-BR" sz="3000" b="1" kern="0" spc="5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 na Prática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0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Fase 1: Configuração e Automação Inicial</a:t>
            </a:r>
          </a:p>
        </p:txBody>
      </p:sp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783820C5-5F22-4F09-B5A1-247AFB5E986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29025" y="5696348"/>
            <a:ext cx="14544000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600" b="1" kern="2600" spc="60" baseline="0">
                <a:solidFill>
                  <a:srgbClr val="C8AF8C"/>
                </a:solidFill>
                <a:latin typeface="+mn-lt"/>
              </a:defRPr>
            </a:lvl1pPr>
            <a:lvl2pPr marL="457200" indent="0">
              <a:buNone/>
              <a:defRPr sz="2200">
                <a:solidFill>
                  <a:srgbClr val="A5804F"/>
                </a:solidFill>
                <a:latin typeface="+mj-lt"/>
              </a:defRPr>
            </a:lvl2pPr>
            <a:lvl3pPr marL="914400" indent="0">
              <a:buNone/>
              <a:defRPr sz="2200">
                <a:solidFill>
                  <a:srgbClr val="A5804F"/>
                </a:solidFill>
                <a:latin typeface="+mj-lt"/>
              </a:defRPr>
            </a:lvl3pPr>
            <a:lvl4pPr marL="1371600" indent="0">
              <a:buNone/>
              <a:defRPr sz="2200">
                <a:solidFill>
                  <a:srgbClr val="A5804F"/>
                </a:solidFill>
                <a:latin typeface="+mj-lt"/>
              </a:defRPr>
            </a:lvl4pPr>
            <a:lvl5pPr marL="1828800" indent="0">
              <a:buNone/>
              <a:defRPr sz="2200">
                <a:solidFill>
                  <a:srgbClr val="A5804F"/>
                </a:solidFill>
                <a:latin typeface="+mj-lt"/>
              </a:defRPr>
            </a:lvl5pPr>
          </a:lstStyle>
          <a:p>
            <a:pPr lvl="0"/>
            <a:r>
              <a:rPr lang="pt-BR" dirty="0"/>
              <a:t>Insira aqui seu nome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345E957-C73A-42F0-AD97-4BFEFECA3E70}"/>
              </a:ext>
            </a:extLst>
          </p:cNvPr>
          <p:cNvSpPr txBox="1"/>
          <p:nvPr userDrawn="1"/>
        </p:nvSpPr>
        <p:spPr>
          <a:xfrm>
            <a:off x="928687" y="5398139"/>
            <a:ext cx="14544676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pt-BR" sz="1800" b="0" kern="1200" spc="50" baseline="0" dirty="0">
                <a:solidFill>
                  <a:srgbClr val="C8AF8C"/>
                </a:solidFill>
                <a:latin typeface="+mn-lt"/>
                <a:ea typeface="+mj-ea"/>
                <a:cs typeface="Arial" panose="020B0604020202020204" pitchFamily="34" charset="0"/>
              </a:rPr>
              <a:t>NOME DO ESTUDANTE:</a:t>
            </a:r>
            <a:endParaRPr lang="pt-BR" sz="1800" b="0" kern="1200" spc="50" baseline="0" dirty="0">
              <a:solidFill>
                <a:srgbClr val="C8AF8C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834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E837148-19BD-4164-965C-6A241D06D853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sz="2422"/>
          </a:p>
        </p:txBody>
      </p:sp>
      <p:sp>
        <p:nvSpPr>
          <p:cNvPr id="8" name="CaixaDeTexto 16">
            <a:extLst>
              <a:ext uri="{FF2B5EF4-FFF2-40B4-BE49-F238E27FC236}">
                <a16:creationId xmlns:a16="http://schemas.microsoft.com/office/drawing/2014/main" id="{973AD855-C71D-41C0-8F1D-FEFA9D3A9581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9" name="CaixaDeTexto 18">
            <a:extLst>
              <a:ext uri="{FF2B5EF4-FFF2-40B4-BE49-F238E27FC236}">
                <a16:creationId xmlns:a16="http://schemas.microsoft.com/office/drawing/2014/main" id="{1353A036-17D9-4E9E-9704-A08842166D53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10" name="Gráfico 20" descr="Aviso">
            <a:extLst>
              <a:ext uri="{FF2B5EF4-FFF2-40B4-BE49-F238E27FC236}">
                <a16:creationId xmlns:a16="http://schemas.microsoft.com/office/drawing/2014/main" id="{BB788BAF-7DDB-4210-A352-F3FA18110B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4B73456F-61AF-4547-97EF-7A33FBA993AC}"/>
              </a:ext>
            </a:extLst>
          </p:cNvPr>
          <p:cNvSpPr txBox="1"/>
          <p:nvPr userDrawn="1"/>
        </p:nvSpPr>
        <p:spPr>
          <a:xfrm>
            <a:off x="2207366" y="2795173"/>
            <a:ext cx="11987319" cy="252498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234923" indent="-234923" algn="l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422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Este é o modelo para você preencher a primeira entrega da disciplina.</a:t>
            </a:r>
          </a:p>
          <a:p>
            <a:pPr marL="266700" indent="0" algn="l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pt-BR" sz="2422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Seção 1 - Documentação de Planejamento</a:t>
            </a:r>
          </a:p>
          <a:p>
            <a:pPr marL="266700" indent="0" algn="l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pt-BR" sz="2422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Seção 2 - Pipeline de Integração Contínua (CI)</a:t>
            </a:r>
          </a:p>
          <a:p>
            <a:pPr marL="266700" indent="0" algn="l">
              <a:lnSpc>
                <a:spcPts val="3000"/>
              </a:lnSpc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pt-BR" sz="2422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Seção 3 - Scripts de Infraestrutura como Código</a:t>
            </a:r>
          </a:p>
          <a:p>
            <a:pPr marL="234923" indent="-234923" algn="l">
              <a:lnSpc>
                <a:spcPts val="3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422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Se necessário duplicar o slide, no painel de miniaturas à esquerda clique na miniatura do slide e clique em ‘Duplicar Slide’. </a:t>
            </a:r>
          </a:p>
        </p:txBody>
      </p:sp>
    </p:spTree>
    <p:extLst>
      <p:ext uri="{BB962C8B-B14F-4D97-AF65-F5344CB8AC3E}">
        <p14:creationId xmlns:p14="http://schemas.microsoft.com/office/powerpoint/2010/main" val="37572873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FA034C09-59DD-4564-9C6E-8F60F069EB37}"/>
              </a:ext>
            </a:extLst>
          </p:cNvPr>
          <p:cNvSpPr txBox="1"/>
          <p:nvPr userDrawn="1"/>
        </p:nvSpPr>
        <p:spPr>
          <a:xfrm>
            <a:off x="1865025" y="4038855"/>
            <a:ext cx="12672000" cy="152349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pt-BR" sz="4000" b="1" kern="3200" spc="20" baseline="0" dirty="0">
                <a:solidFill>
                  <a:srgbClr val="9E7E54"/>
                </a:solidFill>
                <a:effectLst/>
                <a:latin typeface="+mn-lt"/>
                <a:ea typeface="Calibri Light" panose="020F0302020204030204" pitchFamily="34" charset="0"/>
              </a:rPr>
              <a:t>SEÇÃO 1</a:t>
            </a:r>
          </a:p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54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Documentação de Planejamento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70FB7A2-C821-4005-9581-A434F16907DD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05C62543-80A6-4335-B5BF-F8DAD9E7C88A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0E5B71C4-9222-4017-8252-D16E1DE3F5FB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6" name="Retângulo 5">
            <a:extLst>
              <a:ext uri="{FF2B5EF4-FFF2-40B4-BE49-F238E27FC236}">
                <a16:creationId xmlns:a16="http://schemas.microsoft.com/office/drawing/2014/main" id="{6807B6E6-E1E3-4161-B953-A271C13ABAE3}"/>
              </a:ext>
            </a:extLst>
          </p:cNvPr>
          <p:cNvSpPr/>
          <p:nvPr userDrawn="1"/>
        </p:nvSpPr>
        <p:spPr>
          <a:xfrm>
            <a:off x="911025" y="8714216"/>
            <a:ext cx="14580000" cy="28800"/>
          </a:xfrm>
          <a:prstGeom prst="rect">
            <a:avLst/>
          </a:prstGeom>
          <a:solidFill>
            <a:srgbClr val="535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17832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8" y="1640232"/>
            <a:ext cx="10684192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a) DESCRIÇÃO DO PROJETO, SEUS OBJETIVOS E REQUISITOS: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5C833F-81A7-4EFD-A5F0-EAE720DDCE3F}"/>
              </a:ext>
            </a:extLst>
          </p:cNvPr>
          <p:cNvSpPr txBox="1"/>
          <p:nvPr userDrawn="1"/>
        </p:nvSpPr>
        <p:spPr>
          <a:xfrm>
            <a:off x="10835640" y="855785"/>
            <a:ext cx="466861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1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Documentação de Planejamento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3E46545-5E91-4C76-87DB-86D3C5ED1C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030470"/>
            <a:ext cx="14544674" cy="6840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</p:spTree>
    <p:extLst>
      <p:ext uri="{BB962C8B-B14F-4D97-AF65-F5344CB8AC3E}">
        <p14:creationId xmlns:p14="http://schemas.microsoft.com/office/powerpoint/2010/main" val="1710461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8" y="1640232"/>
            <a:ext cx="10684192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b) PLANO DE INTEGRAÇÃO CONTÍNUA: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5C833F-81A7-4EFD-A5F0-EAE720DDCE3F}"/>
              </a:ext>
            </a:extLst>
          </p:cNvPr>
          <p:cNvSpPr txBox="1"/>
          <p:nvPr userDrawn="1"/>
        </p:nvSpPr>
        <p:spPr>
          <a:xfrm>
            <a:off x="10835640" y="855785"/>
            <a:ext cx="466861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1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Documentação de Planejamento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3E46545-5E91-4C76-87DB-86D3C5ED1C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030470"/>
            <a:ext cx="14544674" cy="6840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</p:spTree>
    <p:extLst>
      <p:ext uri="{BB962C8B-B14F-4D97-AF65-F5344CB8AC3E}">
        <p14:creationId xmlns:p14="http://schemas.microsoft.com/office/powerpoint/2010/main" val="1826031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8" y="1640232"/>
            <a:ext cx="10684192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c) ESPECIFICAÇÃO DETALHADA DA INFRAESTRUTURA NECESSÁRIA: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5C833F-81A7-4EFD-A5F0-EAE720DDCE3F}"/>
              </a:ext>
            </a:extLst>
          </p:cNvPr>
          <p:cNvSpPr txBox="1"/>
          <p:nvPr userDrawn="1"/>
        </p:nvSpPr>
        <p:spPr>
          <a:xfrm>
            <a:off x="10835640" y="855785"/>
            <a:ext cx="466861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1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Documentação de Planejamento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3E46545-5E91-4C76-87DB-86D3C5ED1C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030470"/>
            <a:ext cx="14544674" cy="6840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</p:spTree>
    <p:extLst>
      <p:ext uri="{BB962C8B-B14F-4D97-AF65-F5344CB8AC3E}">
        <p14:creationId xmlns:p14="http://schemas.microsoft.com/office/powerpoint/2010/main" val="1637171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FA034C09-59DD-4564-9C6E-8F60F069EB37}"/>
              </a:ext>
            </a:extLst>
          </p:cNvPr>
          <p:cNvSpPr txBox="1"/>
          <p:nvPr userDrawn="1"/>
        </p:nvSpPr>
        <p:spPr>
          <a:xfrm>
            <a:off x="1865025" y="4038855"/>
            <a:ext cx="12672000" cy="152349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pt-BR" sz="4000" b="1" kern="3200" spc="20" baseline="0" dirty="0">
                <a:solidFill>
                  <a:srgbClr val="9E7E54"/>
                </a:solidFill>
                <a:effectLst/>
                <a:latin typeface="+mn-lt"/>
                <a:ea typeface="Calibri Light" panose="020F0302020204030204" pitchFamily="34" charset="0"/>
              </a:rPr>
              <a:t>SEÇÃO 2</a:t>
            </a:r>
          </a:p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54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Pipeline de Integração Contínua (CI)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70FB7A2-C821-4005-9581-A434F16907DD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05C62543-80A6-4335-B5BF-F8DAD9E7C88A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0E5B71C4-9222-4017-8252-D16E1DE3F5FB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7" name="Retângulo 6">
            <a:extLst>
              <a:ext uri="{FF2B5EF4-FFF2-40B4-BE49-F238E27FC236}">
                <a16:creationId xmlns:a16="http://schemas.microsoft.com/office/drawing/2014/main" id="{B0CB3943-272C-4C32-B482-560121CB61B3}"/>
              </a:ext>
            </a:extLst>
          </p:cNvPr>
          <p:cNvSpPr/>
          <p:nvPr userDrawn="1"/>
        </p:nvSpPr>
        <p:spPr>
          <a:xfrm>
            <a:off x="911025" y="8714216"/>
            <a:ext cx="14580000" cy="28800"/>
          </a:xfrm>
          <a:prstGeom prst="rect">
            <a:avLst/>
          </a:prstGeom>
          <a:solidFill>
            <a:srgbClr val="535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1416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8" y="1640232"/>
            <a:ext cx="10684192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a) CONFIGURAÇÃO DE UM REPOSITÓRIO DE CÓDIGO: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3E46545-5E91-4C76-87DB-86D3C5ED1C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282795"/>
            <a:ext cx="14544674" cy="6588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Cole aqui o link.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8614ED5-BD5E-4882-BF75-99FBC0D3D856}"/>
              </a:ext>
            </a:extLst>
          </p:cNvPr>
          <p:cNvSpPr txBox="1"/>
          <p:nvPr userDrawn="1"/>
        </p:nvSpPr>
        <p:spPr>
          <a:xfrm>
            <a:off x="10922000" y="855785"/>
            <a:ext cx="458225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2 – </a:t>
            </a:r>
            <a:r>
              <a:rPr lang="pt-BR" sz="180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Pipeline de Integração Contínua</a:t>
            </a:r>
          </a:p>
        </p:txBody>
      </p:sp>
      <p:sp>
        <p:nvSpPr>
          <p:cNvPr id="9" name="Espaço Reservado para Texto 9">
            <a:extLst>
              <a:ext uri="{FF2B5EF4-FFF2-40B4-BE49-F238E27FC236}">
                <a16:creationId xmlns:a16="http://schemas.microsoft.com/office/drawing/2014/main" id="{B4A74413-C4BC-4DEC-B941-B0212D2BBC4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71792" y="1639268"/>
            <a:ext cx="2808000" cy="277200"/>
          </a:xfrm>
          <a:prstGeom prst="rect">
            <a:avLst/>
          </a:prstGeom>
          <a:solidFill>
            <a:srgbClr val="EEEEFC"/>
          </a:solidFill>
        </p:spPr>
        <p:txBody>
          <a:bodyPr lIns="36000" tIns="0" rIns="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o repositório utilizado.</a:t>
            </a: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3BC377D6-90BA-4821-B87E-B1364DB8CED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31585906"/>
              </p:ext>
            </p:extLst>
          </p:nvPr>
        </p:nvGraphicFramePr>
        <p:xfrm>
          <a:off x="1193799" y="1904081"/>
          <a:ext cx="3888000" cy="2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000">
                  <a:extLst>
                    <a:ext uri="{9D8B030D-6E8A-4147-A177-3AD203B41FA5}">
                      <a16:colId xmlns:a16="http://schemas.microsoft.com/office/drawing/2014/main" val="184229219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600" b="0" kern="2000" spc="-10" baseline="0" dirty="0">
                          <a:solidFill>
                            <a:srgbClr val="53559B"/>
                          </a:solidFill>
                        </a:rPr>
                        <a:t>Insira o link de acesso ao repositório (GitHub).</a:t>
                      </a: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621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7986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8" y="1640232"/>
            <a:ext cx="7377112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b) IMPLEMENTAÇÃO DE UM PIPELINE DE CI USANDO UM GITHUB ACTIONS: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48614ED5-BD5E-4882-BF75-99FBC0D3D856}"/>
              </a:ext>
            </a:extLst>
          </p:cNvPr>
          <p:cNvSpPr txBox="1"/>
          <p:nvPr userDrawn="1"/>
        </p:nvSpPr>
        <p:spPr>
          <a:xfrm>
            <a:off x="10922000" y="855785"/>
            <a:ext cx="458225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2 – </a:t>
            </a:r>
            <a:r>
              <a:rPr lang="pt-BR" sz="180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Pipeline de Integração Contínua</a:t>
            </a:r>
          </a:p>
        </p:txBody>
      </p:sp>
      <p:sp>
        <p:nvSpPr>
          <p:cNvPr id="12" name="Espaço Reservado para Texto 9">
            <a:extLst>
              <a:ext uri="{FF2B5EF4-FFF2-40B4-BE49-F238E27FC236}">
                <a16:creationId xmlns:a16="http://schemas.microsoft.com/office/drawing/2014/main" id="{2C88FADB-3181-4CC0-AA91-FB474121F9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282795"/>
            <a:ext cx="14544674" cy="6588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Cole aqui o link.</a:t>
            </a:r>
          </a:p>
        </p:txBody>
      </p:sp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18D029B0-9E19-48F7-A5BA-EA9511C13C3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22433613"/>
              </p:ext>
            </p:extLst>
          </p:nvPr>
        </p:nvGraphicFramePr>
        <p:xfrm>
          <a:off x="1193799" y="1904081"/>
          <a:ext cx="3888000" cy="2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000">
                  <a:extLst>
                    <a:ext uri="{9D8B030D-6E8A-4147-A177-3AD203B41FA5}">
                      <a16:colId xmlns:a16="http://schemas.microsoft.com/office/drawing/2014/main" val="184229219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600" b="0" kern="2000" spc="-10" baseline="0" dirty="0">
                          <a:solidFill>
                            <a:srgbClr val="53559B"/>
                          </a:solidFill>
                        </a:rPr>
                        <a:t>Insira o link de acesso ao repositório (GitHub).</a:t>
                      </a: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621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8992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FA034C09-59DD-4564-9C6E-8F60F069EB37}"/>
              </a:ext>
            </a:extLst>
          </p:cNvPr>
          <p:cNvSpPr txBox="1"/>
          <p:nvPr userDrawn="1"/>
        </p:nvSpPr>
        <p:spPr>
          <a:xfrm>
            <a:off x="1865025" y="4038855"/>
            <a:ext cx="12672000" cy="152349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pt-BR" sz="4000" b="1" kern="3200" spc="20" baseline="0" dirty="0">
                <a:solidFill>
                  <a:srgbClr val="9E7E54"/>
                </a:solidFill>
                <a:effectLst/>
                <a:latin typeface="+mn-lt"/>
                <a:ea typeface="Calibri Light" panose="020F0302020204030204" pitchFamily="34" charset="0"/>
              </a:rPr>
              <a:t>SEÇÃO 3</a:t>
            </a:r>
          </a:p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54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Scripts de Infraestrutura como Código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70FB7A2-C821-4005-9581-A434F16907DD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05C62543-80A6-4335-B5BF-F8DAD9E7C88A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0E5B71C4-9222-4017-8252-D16E1DE3F5FB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7" name="Retângulo 6">
            <a:extLst>
              <a:ext uri="{FF2B5EF4-FFF2-40B4-BE49-F238E27FC236}">
                <a16:creationId xmlns:a16="http://schemas.microsoft.com/office/drawing/2014/main" id="{6F3E43FC-36AC-4A32-B34A-E3BE18728F88}"/>
              </a:ext>
            </a:extLst>
          </p:cNvPr>
          <p:cNvSpPr/>
          <p:nvPr userDrawn="1"/>
        </p:nvSpPr>
        <p:spPr>
          <a:xfrm>
            <a:off x="911025" y="8714216"/>
            <a:ext cx="14580000" cy="28800"/>
          </a:xfrm>
          <a:prstGeom prst="rect">
            <a:avLst/>
          </a:prstGeom>
          <a:solidFill>
            <a:srgbClr val="535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7329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7" y="1640232"/>
            <a:ext cx="860400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a) </a:t>
            </a:r>
            <a:r>
              <a:rPr lang="pt-BR" sz="1800" b="1" kern="2400" spc="20" baseline="0" dirty="0">
                <a:solidFill>
                  <a:srgbClr val="19266B"/>
                </a:solidFill>
                <a:latin typeface="+mn-lt"/>
                <a:ea typeface="+mn-ea"/>
                <a:cs typeface="+mn-cs"/>
              </a:rPr>
              <a:t>SCRIPTS PARA PROVISIONAMENTO DE INFRAESTRUTURA A</a:t>
            </a:r>
            <a:r>
              <a:rPr lang="pt-BR" sz="1800" b="1" kern="2400" spc="20" baseline="0" dirty="0">
                <a:solidFill>
                  <a:srgbClr val="19266B"/>
                </a:solidFill>
              </a:rPr>
              <a:t> PARTIR DA FERRAMENTA: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48614ED5-BD5E-4882-BF75-99FBC0D3D856}"/>
              </a:ext>
            </a:extLst>
          </p:cNvPr>
          <p:cNvSpPr txBox="1"/>
          <p:nvPr userDrawn="1"/>
        </p:nvSpPr>
        <p:spPr>
          <a:xfrm>
            <a:off x="10218057" y="855785"/>
            <a:ext cx="5286199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3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Scripts de Infraestrutura como Código</a:t>
            </a:r>
          </a:p>
        </p:txBody>
      </p:sp>
      <p:sp>
        <p:nvSpPr>
          <p:cNvPr id="13" name="Espaço Reservado para Texto 9">
            <a:extLst>
              <a:ext uri="{FF2B5EF4-FFF2-40B4-BE49-F238E27FC236}">
                <a16:creationId xmlns:a16="http://schemas.microsoft.com/office/drawing/2014/main" id="{11188E22-FE13-450E-9AD7-00D630A0CE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532687" y="1639268"/>
            <a:ext cx="2808000" cy="277200"/>
          </a:xfrm>
          <a:prstGeom prst="rect">
            <a:avLst/>
          </a:prstGeom>
          <a:solidFill>
            <a:srgbClr val="EEEEFC"/>
          </a:solidFill>
        </p:spPr>
        <p:txBody>
          <a:bodyPr lIns="36000" tIns="0" rIns="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a ferramenta utilizada.</a:t>
            </a:r>
          </a:p>
        </p:txBody>
      </p:sp>
      <p:sp>
        <p:nvSpPr>
          <p:cNvPr id="11" name="Espaço Reservado para Texto 9">
            <a:extLst>
              <a:ext uri="{FF2B5EF4-FFF2-40B4-BE49-F238E27FC236}">
                <a16:creationId xmlns:a16="http://schemas.microsoft.com/office/drawing/2014/main" id="{B4FAFF87-9615-4DB8-A636-FF9CAF0D29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282795"/>
            <a:ext cx="14544674" cy="6588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Cole aqui o link.</a:t>
            </a:r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D8868DBC-D79D-4952-8E00-3AA71093F44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22433613"/>
              </p:ext>
            </p:extLst>
          </p:nvPr>
        </p:nvGraphicFramePr>
        <p:xfrm>
          <a:off x="1193799" y="1904081"/>
          <a:ext cx="3888000" cy="2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000">
                  <a:extLst>
                    <a:ext uri="{9D8B030D-6E8A-4147-A177-3AD203B41FA5}">
                      <a16:colId xmlns:a16="http://schemas.microsoft.com/office/drawing/2014/main" val="184229219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600" b="0" kern="2000" spc="-10" baseline="0" dirty="0">
                          <a:solidFill>
                            <a:srgbClr val="53559B"/>
                          </a:solidFill>
                        </a:rPr>
                        <a:t>Insira o link de acesso ao repositório (GitHub).</a:t>
                      </a: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621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172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">
    <p:bg>
      <p:bgPr>
        <a:blipFill dpi="0" rotWithShape="1">
          <a:blip r:embed="rId2" cstate="email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5952F1E-9BCB-47C9-8499-7411F93F85A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biLevel thresh="2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211025" y="4503298"/>
            <a:ext cx="1980000" cy="5946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96591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7979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33" r:id="rId2"/>
    <p:sldLayoutId id="2147483696" r:id="rId3"/>
    <p:sldLayoutId id="2147483706" r:id="rId4"/>
    <p:sldLayoutId id="2147483726" r:id="rId5"/>
    <p:sldLayoutId id="2147483727" r:id="rId6"/>
    <p:sldLayoutId id="2147483734" r:id="rId7"/>
    <p:sldLayoutId id="2147483728" r:id="rId8"/>
    <p:sldLayoutId id="2147483729" r:id="rId9"/>
    <p:sldLayoutId id="2147483735" r:id="rId10"/>
    <p:sldLayoutId id="2147483731" r:id="rId11"/>
    <p:sldLayoutId id="2147483694" r:id="rId12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87" userDrawn="1">
          <p15:clr>
            <a:srgbClr val="F26B43"/>
          </p15:clr>
        </p15:guide>
        <p15:guide id="2" pos="9747" userDrawn="1">
          <p15:clr>
            <a:srgbClr val="F26B43"/>
          </p15:clr>
        </p15:guide>
        <p15:guide id="3" orient="horz" pos="461" userDrawn="1">
          <p15:clr>
            <a:srgbClr val="F26B43"/>
          </p15:clr>
        </p15:guide>
        <p15:guide id="4" pos="585" userDrawn="1">
          <p15:clr>
            <a:srgbClr val="F26B43"/>
          </p15:clr>
        </p15:guide>
        <p15:guide id="5" pos="5166" userDrawn="1">
          <p15:clr>
            <a:srgbClr val="F26B43"/>
          </p15:clr>
        </p15:guide>
        <p15:guide id="6" orient="horz" pos="892" userDrawn="1">
          <p15:clr>
            <a:srgbClr val="F26B43"/>
          </p15:clr>
        </p15:guide>
        <p15:guide id="7" orient="horz" pos="10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aaiii/Devops.git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aaiii/Devops#54-credenciais-aws-academy-learner-lab" TargetMode="Externa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9980E9-187B-41BE-8F52-63F0BAC645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pt-BR" dirty="0"/>
              <a:t>Daiane Deponti Bolzan</a:t>
            </a:r>
          </a:p>
        </p:txBody>
      </p:sp>
    </p:spTree>
    <p:extLst>
      <p:ext uri="{BB962C8B-B14F-4D97-AF65-F5344CB8AC3E}">
        <p14:creationId xmlns:p14="http://schemas.microsoft.com/office/powerpoint/2010/main" val="341837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047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4878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6EC7D3-5A22-4E4C-A827-68C7878637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b="1" dirty="0"/>
              <a:t>1. Descrição do Projeto</a:t>
            </a:r>
          </a:p>
          <a:p>
            <a:r>
              <a:rPr lang="pt-BR" b="1" dirty="0"/>
              <a:t>1.1 Visão Geral</a:t>
            </a:r>
          </a:p>
          <a:p>
            <a:r>
              <a:rPr lang="pt-BR" dirty="0"/>
              <a:t>Este projeto tem como finalidade implementar um pipeline completo de </a:t>
            </a:r>
            <a:r>
              <a:rPr lang="pt-BR" dirty="0" err="1"/>
              <a:t>DevOps</a:t>
            </a:r>
            <a:r>
              <a:rPr lang="pt-BR" dirty="0"/>
              <a:t> para uma aplicação web, cobrindo desde a integração contínua até a entrega contínua em ambiente de nuvem. A aplicação alvo é uma página HTML simples, projetada para fins didáticos e servindo de base para a aplicação das práticas </a:t>
            </a:r>
            <a:r>
              <a:rPr lang="pt-BR" dirty="0" err="1"/>
              <a:t>DevOps</a:t>
            </a:r>
            <a:r>
              <a:rPr lang="pt-BR" dirty="0"/>
              <a:t> ensinadas na disciplina.</a:t>
            </a:r>
          </a:p>
          <a:p>
            <a:r>
              <a:rPr lang="pt-BR" dirty="0"/>
              <a:t>O projeto é estruturado em duas fases:</a:t>
            </a:r>
          </a:p>
          <a:p>
            <a:r>
              <a:rPr lang="pt-BR" b="1" dirty="0"/>
              <a:t>Fase 1</a:t>
            </a:r>
            <a:r>
              <a:rPr lang="pt-BR" dirty="0"/>
              <a:t> — Configuração e Automação Inicial: abrange a configuração do repositório, o pipeline de Integração Contínua (CI) com GitHub </a:t>
            </a:r>
            <a:r>
              <a:rPr lang="pt-BR" dirty="0" err="1"/>
              <a:t>Actions</a:t>
            </a:r>
            <a:r>
              <a:rPr lang="pt-BR" dirty="0"/>
              <a:t> e os scripts de Infraestrutura como Código (</a:t>
            </a:r>
            <a:r>
              <a:rPr lang="pt-BR" dirty="0" err="1"/>
              <a:t>IaC</a:t>
            </a:r>
            <a:r>
              <a:rPr lang="pt-BR" dirty="0"/>
              <a:t>) utilizando AWS </a:t>
            </a:r>
            <a:r>
              <a:rPr lang="pt-BR" dirty="0" err="1"/>
              <a:t>CloudFormation</a:t>
            </a:r>
            <a:r>
              <a:rPr lang="pt-BR" dirty="0"/>
              <a:t>.</a:t>
            </a:r>
          </a:p>
          <a:p>
            <a:r>
              <a:rPr lang="pt-BR" b="1" dirty="0"/>
              <a:t>Fase 2</a:t>
            </a:r>
            <a:r>
              <a:rPr lang="pt-BR" dirty="0"/>
              <a:t> — Entrega Contínua, Monitoramento e Segurança: expandirá o pipeline para CD, </a:t>
            </a:r>
            <a:r>
              <a:rPr lang="pt-BR" dirty="0" err="1"/>
              <a:t>containerização</a:t>
            </a:r>
            <a:r>
              <a:rPr lang="pt-BR" dirty="0"/>
              <a:t> com Docker, monitoramento e segurança.</a:t>
            </a:r>
          </a:p>
          <a:p>
            <a:r>
              <a:rPr lang="pt-BR" dirty="0"/>
              <a:t>🔗 </a:t>
            </a:r>
            <a:r>
              <a:rPr lang="pt-BR" b="1" dirty="0"/>
              <a:t>Repositório do Projeto:</a:t>
            </a:r>
            <a:r>
              <a:rPr lang="pt-BR" dirty="0"/>
              <a:t> </a:t>
            </a:r>
            <a:r>
              <a:rPr lang="pt-BR" i="1" u="sng" dirty="0">
                <a:hlinkClick r:id="rId2"/>
              </a:rPr>
              <a:t>Link do repositório GitHub</a:t>
            </a:r>
            <a:endParaRPr lang="pt-BR" dirty="0"/>
          </a:p>
          <a:p>
            <a:r>
              <a:rPr lang="pt-BR" b="1" dirty="0"/>
              <a:t>1.2 Contexto e Motivação</a:t>
            </a:r>
          </a:p>
          <a:p>
            <a:r>
              <a:rPr lang="pt-BR" dirty="0"/>
              <a:t>O mercado de desenvolvimento de software demanda cada vez mais profissionais capazes de integrar práticas de desenvolvimento e operações de forma ágil e automatizada. A cultura </a:t>
            </a:r>
            <a:r>
              <a:rPr lang="pt-BR" dirty="0" err="1"/>
              <a:t>DevOps</a:t>
            </a:r>
            <a:r>
              <a:rPr lang="pt-BR" dirty="0"/>
              <a:t> surge como resposta a essa demanda, eliminando silos entre equipes, acelerando entregas e aumentando a confiabilidade dos sistemas em produção.</a:t>
            </a:r>
          </a:p>
          <a:p>
            <a:r>
              <a:rPr lang="pt-BR" dirty="0"/>
              <a:t>Este projeto permite vivenciar na prática os conceitos teóricos da disciplina: automatização de builds, validação contínua por testes, provisionamento de infraestrutura por código e </a:t>
            </a:r>
            <a:r>
              <a:rPr lang="pt-BR" dirty="0" err="1"/>
              <a:t>deploy</a:t>
            </a:r>
            <a:r>
              <a:rPr lang="pt-BR" dirty="0"/>
              <a:t> reproduzível. Ao final, o resultado será um pipeline real e funcional hospedado no GitHub e integrado à AWS.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66044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8DA91-E7DB-0A47-47E2-D0570E2DD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874A66-1634-72F5-805D-86D16D9555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.</a:t>
            </a:r>
          </a:p>
          <a:p>
            <a:endParaRPr lang="pt-BR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E61EE2FA-1107-63C9-DD3B-D3D53B1151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156640"/>
              </p:ext>
            </p:extLst>
          </p:nvPr>
        </p:nvGraphicFramePr>
        <p:xfrm>
          <a:off x="2288542" y="2555875"/>
          <a:ext cx="11824965" cy="6091238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3941655">
                  <a:extLst>
                    <a:ext uri="{9D8B030D-6E8A-4147-A177-3AD203B41FA5}">
                      <a16:colId xmlns:a16="http://schemas.microsoft.com/office/drawing/2014/main" val="1101375876"/>
                    </a:ext>
                  </a:extLst>
                </a:gridCol>
                <a:gridCol w="3941655">
                  <a:extLst>
                    <a:ext uri="{9D8B030D-6E8A-4147-A177-3AD203B41FA5}">
                      <a16:colId xmlns:a16="http://schemas.microsoft.com/office/drawing/2014/main" val="3780754805"/>
                    </a:ext>
                  </a:extLst>
                </a:gridCol>
                <a:gridCol w="3941655">
                  <a:extLst>
                    <a:ext uri="{9D8B030D-6E8A-4147-A177-3AD203B41FA5}">
                      <a16:colId xmlns:a16="http://schemas.microsoft.com/office/drawing/2014/main" val="2028275943"/>
                    </a:ext>
                  </a:extLst>
                </a:gridCol>
              </a:tblGrid>
              <a:tr h="416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 b="1" dirty="0">
                          <a:effectLst/>
                        </a:rPr>
                        <a:t>Categoria</a:t>
                      </a:r>
                    </a:p>
                  </a:txBody>
                  <a:tcPr marL="103495" marR="103495" marT="47767" marB="477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 b="1">
                          <a:effectLst/>
                        </a:rPr>
                        <a:t>Tecnologia / Ferramenta</a:t>
                      </a:r>
                    </a:p>
                  </a:txBody>
                  <a:tcPr marL="103495" marR="103495" marT="47767" marB="477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 b="1">
                          <a:effectLst/>
                        </a:rPr>
                        <a:t>Finalidade</a:t>
                      </a:r>
                    </a:p>
                  </a:txBody>
                  <a:tcPr marL="103495" marR="103495" marT="47767" marB="47767" anchor="ctr"/>
                </a:tc>
                <a:extLst>
                  <a:ext uri="{0D108BD9-81ED-4DB2-BD59-A6C34878D82A}">
                    <a16:rowId xmlns:a16="http://schemas.microsoft.com/office/drawing/2014/main" val="46017477"/>
                  </a:ext>
                </a:extLst>
              </a:tr>
              <a:tr h="737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Linguagem</a:t>
                      </a:r>
                    </a:p>
                  </a:txBody>
                  <a:tcPr marL="103495" marR="103495" marT="47767" marB="477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Node.js (JavaScript)</a:t>
                      </a:r>
                    </a:p>
                  </a:txBody>
                  <a:tcPr marL="103495" marR="103495" marT="47767" marB="477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Desenvolvimento da aplicação e execução dos testes</a:t>
                      </a:r>
                    </a:p>
                  </a:txBody>
                  <a:tcPr marL="103495" marR="103495" marT="47767" marB="47767" anchor="ctr"/>
                </a:tc>
                <a:extLst>
                  <a:ext uri="{0D108BD9-81ED-4DB2-BD59-A6C34878D82A}">
                    <a16:rowId xmlns:a16="http://schemas.microsoft.com/office/drawing/2014/main" val="4038333128"/>
                  </a:ext>
                </a:extLst>
              </a:tr>
              <a:tr h="737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Controle de Versão</a:t>
                      </a:r>
                    </a:p>
                  </a:txBody>
                  <a:tcPr marL="103495" marR="103495" marT="47767" marB="477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 dirty="0" err="1">
                          <a:effectLst/>
                        </a:rPr>
                        <a:t>Git</a:t>
                      </a:r>
                      <a:r>
                        <a:rPr lang="pt-BR" sz="2100" dirty="0">
                          <a:effectLst/>
                        </a:rPr>
                        <a:t> + GitHub</a:t>
                      </a:r>
                    </a:p>
                  </a:txBody>
                  <a:tcPr marL="103495" marR="103495" marT="47767" marB="477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Repositório de código e colaboração</a:t>
                      </a:r>
                    </a:p>
                  </a:txBody>
                  <a:tcPr marL="103495" marR="103495" marT="47767" marB="47767" anchor="ctr"/>
                </a:tc>
                <a:extLst>
                  <a:ext uri="{0D108BD9-81ED-4DB2-BD59-A6C34878D82A}">
                    <a16:rowId xmlns:a16="http://schemas.microsoft.com/office/drawing/2014/main" val="1624714760"/>
                  </a:ext>
                </a:extLst>
              </a:tr>
              <a:tr h="416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CI/CD</a:t>
                      </a:r>
                    </a:p>
                  </a:txBody>
                  <a:tcPr marL="103495" marR="103495" marT="47767" marB="477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 dirty="0">
                          <a:effectLst/>
                        </a:rPr>
                        <a:t>GitHub </a:t>
                      </a:r>
                      <a:r>
                        <a:rPr lang="pt-BR" sz="2100" dirty="0" err="1">
                          <a:effectLst/>
                        </a:rPr>
                        <a:t>Actions</a:t>
                      </a:r>
                      <a:endParaRPr lang="pt-BR" sz="2100" dirty="0">
                        <a:effectLst/>
                      </a:endParaRPr>
                    </a:p>
                  </a:txBody>
                  <a:tcPr marL="103495" marR="103495" marT="47767" marB="477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Automação do pipeline</a:t>
                      </a:r>
                    </a:p>
                  </a:txBody>
                  <a:tcPr marL="103495" marR="103495" marT="47767" marB="47767" anchor="ctr"/>
                </a:tc>
                <a:extLst>
                  <a:ext uri="{0D108BD9-81ED-4DB2-BD59-A6C34878D82A}">
                    <a16:rowId xmlns:a16="http://schemas.microsoft.com/office/drawing/2014/main" val="580714294"/>
                  </a:ext>
                </a:extLst>
              </a:tr>
              <a:tr h="737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Lint</a:t>
                      </a:r>
                    </a:p>
                  </a:txBody>
                  <a:tcPr marL="103495" marR="103495" marT="47767" marB="477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HTMLHint</a:t>
                      </a:r>
                    </a:p>
                  </a:txBody>
                  <a:tcPr marL="103495" marR="103495" marT="47767" marB="477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Validação e qualidade do código HTML</a:t>
                      </a:r>
                    </a:p>
                  </a:txBody>
                  <a:tcPr marL="103495" marR="103495" marT="47767" marB="47767" anchor="ctr"/>
                </a:tc>
                <a:extLst>
                  <a:ext uri="{0D108BD9-81ED-4DB2-BD59-A6C34878D82A}">
                    <a16:rowId xmlns:a16="http://schemas.microsoft.com/office/drawing/2014/main" val="4151284446"/>
                  </a:ext>
                </a:extLst>
              </a:tr>
              <a:tr h="737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Testes</a:t>
                      </a:r>
                    </a:p>
                  </a:txBody>
                  <a:tcPr marL="103495" marR="103495" marT="47767" marB="477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Jest + jest-environment-jsdom</a:t>
                      </a:r>
                    </a:p>
                  </a:txBody>
                  <a:tcPr marL="103495" marR="103495" marT="47767" marB="477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Testes unitários com DOM e relatório de cobertura</a:t>
                      </a:r>
                    </a:p>
                  </a:txBody>
                  <a:tcPr marL="103495" marR="103495" marT="47767" marB="47767" anchor="ctr"/>
                </a:tc>
                <a:extLst>
                  <a:ext uri="{0D108BD9-81ED-4DB2-BD59-A6C34878D82A}">
                    <a16:rowId xmlns:a16="http://schemas.microsoft.com/office/drawing/2014/main" val="4025448114"/>
                  </a:ext>
                </a:extLst>
              </a:tr>
              <a:tr h="737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IaC</a:t>
                      </a:r>
                    </a:p>
                  </a:txBody>
                  <a:tcPr marL="103495" marR="103495" marT="47767" marB="477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AWS CloudFormation</a:t>
                      </a:r>
                    </a:p>
                  </a:txBody>
                  <a:tcPr marL="103495" marR="103495" marT="47767" marB="477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Provisionamento de infraestrutura</a:t>
                      </a:r>
                    </a:p>
                  </a:txBody>
                  <a:tcPr marL="103495" marR="103495" marT="47767" marB="47767" anchor="ctr"/>
                </a:tc>
                <a:extLst>
                  <a:ext uri="{0D108BD9-81ED-4DB2-BD59-A6C34878D82A}">
                    <a16:rowId xmlns:a16="http://schemas.microsoft.com/office/drawing/2014/main" val="1175580572"/>
                  </a:ext>
                </a:extLst>
              </a:tr>
              <a:tr h="737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Nuvem</a:t>
                      </a:r>
                    </a:p>
                  </a:txBody>
                  <a:tcPr marL="103495" marR="103495" marT="47767" marB="477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Amazon Web Services (AWS)</a:t>
                      </a:r>
                    </a:p>
                  </a:txBody>
                  <a:tcPr marL="103495" marR="103495" marT="47767" marB="477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Hospedagem e serviços gerenciados</a:t>
                      </a:r>
                    </a:p>
                  </a:txBody>
                  <a:tcPr marL="103495" marR="103495" marT="47767" marB="47767" anchor="ctr"/>
                </a:tc>
                <a:extLst>
                  <a:ext uri="{0D108BD9-81ED-4DB2-BD59-A6C34878D82A}">
                    <a16:rowId xmlns:a16="http://schemas.microsoft.com/office/drawing/2014/main" val="4274622489"/>
                  </a:ext>
                </a:extLst>
              </a:tr>
              <a:tr h="416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Containers</a:t>
                      </a:r>
                    </a:p>
                  </a:txBody>
                  <a:tcPr marL="103495" marR="103495" marT="47767" marB="477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Docker (Fase 2)</a:t>
                      </a:r>
                    </a:p>
                  </a:txBody>
                  <a:tcPr marL="103495" marR="103495" marT="47767" marB="477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Containerização da aplicação</a:t>
                      </a:r>
                    </a:p>
                  </a:txBody>
                  <a:tcPr marL="103495" marR="103495" marT="47767" marB="47767" anchor="ctr"/>
                </a:tc>
                <a:extLst>
                  <a:ext uri="{0D108BD9-81ED-4DB2-BD59-A6C34878D82A}">
                    <a16:rowId xmlns:a16="http://schemas.microsoft.com/office/drawing/2014/main" val="1129159896"/>
                  </a:ext>
                </a:extLst>
              </a:tr>
              <a:tr h="416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 dirty="0">
                          <a:effectLst/>
                        </a:rPr>
                        <a:t>Monitoramento</a:t>
                      </a:r>
                    </a:p>
                  </a:txBody>
                  <a:tcPr marL="103495" marR="103495" marT="47767" marB="477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AWS CloudWatch (Fase 2)</a:t>
                      </a:r>
                    </a:p>
                  </a:txBody>
                  <a:tcPr marL="103495" marR="103495" marT="47767" marB="477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 dirty="0">
                          <a:effectLst/>
                        </a:rPr>
                        <a:t>Logs e métricas</a:t>
                      </a:r>
                    </a:p>
                  </a:txBody>
                  <a:tcPr marL="103495" marR="103495" marT="47767" marB="47767" anchor="ctr"/>
                </a:tc>
                <a:extLst>
                  <a:ext uri="{0D108BD9-81ED-4DB2-BD59-A6C34878D82A}">
                    <a16:rowId xmlns:a16="http://schemas.microsoft.com/office/drawing/2014/main" val="2274693021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853B16F8-BF80-65CD-5024-FB18206E7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3689" y="1261737"/>
            <a:ext cx="2988610" cy="768733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12658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 Sans VF"/>
              </a:rPr>
              <a:t>1.3 Tecnologias Utilizadas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650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7299A-366C-3A9C-0D84-003CA0294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31D1BB-7291-7BB3-4C31-58B99A9763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.</a:t>
            </a:r>
          </a:p>
          <a:p>
            <a:r>
              <a:rPr lang="pt-BR" b="1" dirty="0"/>
              <a:t>2. Objetivos do Projeto</a:t>
            </a:r>
          </a:p>
          <a:p>
            <a:r>
              <a:rPr lang="pt-BR" b="1" dirty="0"/>
              <a:t>2.1 Objetivo Geral</a:t>
            </a:r>
          </a:p>
          <a:p>
            <a:r>
              <a:rPr lang="pt-BR" dirty="0"/>
              <a:t>Implementar um pipeline </a:t>
            </a:r>
            <a:r>
              <a:rPr lang="pt-BR" dirty="0" err="1"/>
              <a:t>DevOps</a:t>
            </a:r>
            <a:r>
              <a:rPr lang="pt-BR" dirty="0"/>
              <a:t> completo e funcional — desde o </a:t>
            </a:r>
            <a:r>
              <a:rPr lang="pt-BR" dirty="0" err="1"/>
              <a:t>commit</a:t>
            </a:r>
            <a:r>
              <a:rPr lang="pt-BR" dirty="0"/>
              <a:t> do código até o </a:t>
            </a:r>
            <a:r>
              <a:rPr lang="pt-BR" dirty="0" err="1"/>
              <a:t>deploy</a:t>
            </a:r>
            <a:r>
              <a:rPr lang="pt-BR" dirty="0"/>
              <a:t> automatizado em ambiente de nuvem — aplicando as melhores práticas de Integração Contínua, Entrega Contínua, Infraestrutura como Código e monitoramento.</a:t>
            </a:r>
          </a:p>
          <a:p>
            <a:r>
              <a:rPr lang="pt-BR" b="1" dirty="0"/>
              <a:t>2.2 Objetivos Específicos</a:t>
            </a:r>
          </a:p>
          <a:p>
            <a:endParaRPr lang="pt-BR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F7F47A03-81F9-2954-A819-0460794126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459380"/>
              </p:ext>
            </p:extLst>
          </p:nvPr>
        </p:nvGraphicFramePr>
        <p:xfrm>
          <a:off x="928688" y="3998794"/>
          <a:ext cx="14544672" cy="4825158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4848224">
                  <a:extLst>
                    <a:ext uri="{9D8B030D-6E8A-4147-A177-3AD203B41FA5}">
                      <a16:colId xmlns:a16="http://schemas.microsoft.com/office/drawing/2014/main" val="2064034466"/>
                    </a:ext>
                  </a:extLst>
                </a:gridCol>
                <a:gridCol w="4848224">
                  <a:extLst>
                    <a:ext uri="{9D8B030D-6E8A-4147-A177-3AD203B41FA5}">
                      <a16:colId xmlns:a16="http://schemas.microsoft.com/office/drawing/2014/main" val="1734701952"/>
                    </a:ext>
                  </a:extLst>
                </a:gridCol>
                <a:gridCol w="4848224">
                  <a:extLst>
                    <a:ext uri="{9D8B030D-6E8A-4147-A177-3AD203B41FA5}">
                      <a16:colId xmlns:a16="http://schemas.microsoft.com/office/drawing/2014/main" val="1688519770"/>
                    </a:ext>
                  </a:extLst>
                </a:gridCol>
              </a:tblGrid>
              <a:tr h="309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b="1" dirty="0">
                          <a:effectLst/>
                        </a:rPr>
                        <a:t>ID</a:t>
                      </a:r>
                    </a:p>
                  </a:txBody>
                  <a:tcPr marL="64644" marR="64644" marT="29836" marB="298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b="1">
                          <a:effectLst/>
                        </a:rPr>
                        <a:t>Objetivo</a:t>
                      </a:r>
                    </a:p>
                  </a:txBody>
                  <a:tcPr marL="64644" marR="64644" marT="29836" marB="298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b="1">
                          <a:effectLst/>
                        </a:rPr>
                        <a:t>Descrição</a:t>
                      </a:r>
                    </a:p>
                  </a:txBody>
                  <a:tcPr marL="64644" marR="64644" marT="29836" marB="29836" anchor="ctr"/>
                </a:tc>
                <a:extLst>
                  <a:ext uri="{0D108BD9-81ED-4DB2-BD59-A6C34878D82A}">
                    <a16:rowId xmlns:a16="http://schemas.microsoft.com/office/drawing/2014/main" val="1516199920"/>
                  </a:ext>
                </a:extLst>
              </a:tr>
              <a:tr h="654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dirty="0">
                          <a:effectLst/>
                        </a:rPr>
                        <a:t>OBJ-01</a:t>
                      </a:r>
                    </a:p>
                  </a:txBody>
                  <a:tcPr marL="64644" marR="64644" marT="29836" marB="298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dirty="0">
                          <a:effectLst/>
                        </a:rPr>
                        <a:t>Repositório CI</a:t>
                      </a:r>
                    </a:p>
                  </a:txBody>
                  <a:tcPr marL="64644" marR="64644" marT="29836" marB="298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dirty="0">
                          <a:effectLst/>
                        </a:rPr>
                        <a:t>Configurar repositório no GitHub com boas práticas: </a:t>
                      </a:r>
                      <a:r>
                        <a:rPr lang="pt-BR" sz="1300" dirty="0" err="1">
                          <a:effectLst/>
                        </a:rPr>
                        <a:t>branches</a:t>
                      </a:r>
                      <a:r>
                        <a:rPr lang="pt-BR" sz="1300" dirty="0">
                          <a:effectLst/>
                        </a:rPr>
                        <a:t>, </a:t>
                      </a:r>
                      <a:r>
                        <a:rPr lang="pt-BR" sz="1300" dirty="0" err="1">
                          <a:effectLst/>
                        </a:rPr>
                        <a:t>commit</a:t>
                      </a:r>
                      <a:r>
                        <a:rPr lang="pt-BR" sz="1300" dirty="0">
                          <a:effectLst/>
                        </a:rPr>
                        <a:t> semântico e proteções de </a:t>
                      </a:r>
                      <a:r>
                        <a:rPr lang="pt-BR" sz="1300" dirty="0" err="1">
                          <a:effectLst/>
                        </a:rPr>
                        <a:t>branch</a:t>
                      </a:r>
                      <a:r>
                        <a:rPr lang="pt-BR" sz="1300" dirty="0">
                          <a:effectLst/>
                        </a:rPr>
                        <a:t>.</a:t>
                      </a:r>
                    </a:p>
                  </a:txBody>
                  <a:tcPr marL="64644" marR="64644" marT="29836" marB="29836" anchor="ctr"/>
                </a:tc>
                <a:extLst>
                  <a:ext uri="{0D108BD9-81ED-4DB2-BD59-A6C34878D82A}">
                    <a16:rowId xmlns:a16="http://schemas.microsoft.com/office/drawing/2014/main" val="3807238952"/>
                  </a:ext>
                </a:extLst>
              </a:tr>
              <a:tr h="654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>
                          <a:effectLst/>
                        </a:rPr>
                        <a:t>OBJ-02</a:t>
                      </a:r>
                    </a:p>
                  </a:txBody>
                  <a:tcPr marL="64644" marR="64644" marT="29836" marB="298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>
                          <a:effectLst/>
                        </a:rPr>
                        <a:t>Pipeline CI</a:t>
                      </a:r>
                    </a:p>
                  </a:txBody>
                  <a:tcPr marL="64644" marR="64644" marT="29836" marB="298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>
                          <a:effectLst/>
                        </a:rPr>
                        <a:t>Implementar pipeline de CI com GitHub Actions para build automático, lint e execução de testes a cada push/PR.</a:t>
                      </a:r>
                    </a:p>
                  </a:txBody>
                  <a:tcPr marL="64644" marR="64644" marT="29836" marB="29836" anchor="ctr"/>
                </a:tc>
                <a:extLst>
                  <a:ext uri="{0D108BD9-81ED-4DB2-BD59-A6C34878D82A}">
                    <a16:rowId xmlns:a16="http://schemas.microsoft.com/office/drawing/2014/main" val="3079331663"/>
                  </a:ext>
                </a:extLst>
              </a:tr>
              <a:tr h="806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>
                          <a:effectLst/>
                        </a:rPr>
                        <a:t>OBJ-03</a:t>
                      </a:r>
                    </a:p>
                  </a:txBody>
                  <a:tcPr marL="64644" marR="64644" marT="29836" marB="298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>
                          <a:effectLst/>
                        </a:rPr>
                        <a:t>Infraestrutura como Código</a:t>
                      </a:r>
                    </a:p>
                  </a:txBody>
                  <a:tcPr marL="64644" marR="64644" marT="29836" marB="298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>
                          <a:effectLst/>
                        </a:rPr>
                        <a:t>Desenvolver templates AWS CloudFormation para provisionamento da infraestrutura necessária (EC2, S3, IAM, etc.).</a:t>
                      </a:r>
                    </a:p>
                  </a:txBody>
                  <a:tcPr marL="64644" marR="64644" marT="29836" marB="29836" anchor="ctr"/>
                </a:tc>
                <a:extLst>
                  <a:ext uri="{0D108BD9-81ED-4DB2-BD59-A6C34878D82A}">
                    <a16:rowId xmlns:a16="http://schemas.microsoft.com/office/drawing/2014/main" val="3483340808"/>
                  </a:ext>
                </a:extLst>
              </a:tr>
              <a:tr h="654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>
                          <a:effectLst/>
                        </a:rPr>
                        <a:t>OBJ-04</a:t>
                      </a:r>
                    </a:p>
                  </a:txBody>
                  <a:tcPr marL="64644" marR="64644" marT="29836" marB="298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>
                          <a:effectLst/>
                        </a:rPr>
                        <a:t>Entrega Contínua (Fase 2)</a:t>
                      </a:r>
                    </a:p>
                  </a:txBody>
                  <a:tcPr marL="64644" marR="64644" marT="29836" marB="298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>
                          <a:effectLst/>
                        </a:rPr>
                        <a:t>Expandir o pipeline para CD, automatizando o deploy em ambiente AWS após a aprovação dos testes.</a:t>
                      </a:r>
                    </a:p>
                  </a:txBody>
                  <a:tcPr marL="64644" marR="64644" marT="29836" marB="29836" anchor="ctr"/>
                </a:tc>
                <a:extLst>
                  <a:ext uri="{0D108BD9-81ED-4DB2-BD59-A6C34878D82A}">
                    <a16:rowId xmlns:a16="http://schemas.microsoft.com/office/drawing/2014/main" val="153004129"/>
                  </a:ext>
                </a:extLst>
              </a:tr>
              <a:tr h="546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>
                          <a:effectLst/>
                        </a:rPr>
                        <a:t>OBJ-05</a:t>
                      </a:r>
                    </a:p>
                  </a:txBody>
                  <a:tcPr marL="64644" marR="64644" marT="29836" marB="298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>
                          <a:effectLst/>
                        </a:rPr>
                        <a:t>Containerização (Fase 2)</a:t>
                      </a:r>
                    </a:p>
                  </a:txBody>
                  <a:tcPr marL="64644" marR="64644" marT="29836" marB="298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>
                          <a:effectLst/>
                        </a:rPr>
                        <a:t>Containerizar a aplicação com Docker e criar scripts de deploy baseados em containers.</a:t>
                      </a:r>
                    </a:p>
                  </a:txBody>
                  <a:tcPr marL="64644" marR="64644" marT="29836" marB="29836" anchor="ctr"/>
                </a:tc>
                <a:extLst>
                  <a:ext uri="{0D108BD9-81ED-4DB2-BD59-A6C34878D82A}">
                    <a16:rowId xmlns:a16="http://schemas.microsoft.com/office/drawing/2014/main" val="1436763573"/>
                  </a:ext>
                </a:extLst>
              </a:tr>
              <a:tr h="654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>
                          <a:effectLst/>
                        </a:rPr>
                        <a:t>OBJ-06</a:t>
                      </a:r>
                    </a:p>
                  </a:txBody>
                  <a:tcPr marL="64644" marR="64644" marT="29836" marB="298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>
                          <a:effectLst/>
                        </a:rPr>
                        <a:t>Monitoramento (Fase 2)</a:t>
                      </a:r>
                    </a:p>
                  </a:txBody>
                  <a:tcPr marL="64644" marR="64644" marT="29836" marB="298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>
                          <a:effectLst/>
                        </a:rPr>
                        <a:t>Configurar monitoramento e logging com AWS CloudWatch para observabilidade em produção.</a:t>
                      </a:r>
                    </a:p>
                  </a:txBody>
                  <a:tcPr marL="64644" marR="64644" marT="29836" marB="29836" anchor="ctr"/>
                </a:tc>
                <a:extLst>
                  <a:ext uri="{0D108BD9-81ED-4DB2-BD59-A6C34878D82A}">
                    <a16:rowId xmlns:a16="http://schemas.microsoft.com/office/drawing/2014/main" val="964162858"/>
                  </a:ext>
                </a:extLst>
              </a:tr>
              <a:tr h="546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>
                          <a:effectLst/>
                        </a:rPr>
                        <a:t>OBJ-07</a:t>
                      </a:r>
                    </a:p>
                  </a:txBody>
                  <a:tcPr marL="64644" marR="64644" marT="29836" marB="298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>
                          <a:effectLst/>
                        </a:rPr>
                        <a:t>Documentação</a:t>
                      </a:r>
                    </a:p>
                  </a:txBody>
                  <a:tcPr marL="64644" marR="64644" marT="29836" marB="298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dirty="0">
                          <a:effectLst/>
                        </a:rPr>
                        <a:t>Documentar todas as etapas, decisões técnicas e resultados obtidos ao longo do projeto.</a:t>
                      </a:r>
                    </a:p>
                  </a:txBody>
                  <a:tcPr marL="64644" marR="64644" marT="29836" marB="29836" anchor="ctr"/>
                </a:tc>
                <a:extLst>
                  <a:ext uri="{0D108BD9-81ED-4DB2-BD59-A6C34878D82A}">
                    <a16:rowId xmlns:a16="http://schemas.microsoft.com/office/drawing/2014/main" val="1708554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612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14FF9-D5CD-CE04-14EF-8D7B2B7FC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5200F98-5E64-DD21-885E-0541F32277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b="1" dirty="0"/>
              <a:t>2.3 Escopo da Fase 1</a:t>
            </a:r>
          </a:p>
          <a:p>
            <a:r>
              <a:rPr lang="pt-BR" b="1" dirty="0"/>
              <a:t>Incluído no escopo: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Documentação de planejamento (este documento)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Configuração do repositório GitHub com estrutura de </a:t>
            </a:r>
            <a:r>
              <a:rPr lang="pt-BR" dirty="0" err="1"/>
              <a:t>branches</a:t>
            </a:r>
            <a:r>
              <a:rPr lang="pt-BR" dirty="0"/>
              <a:t> e CI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Implementação do pipeline de CI usando GitHub </a:t>
            </a:r>
            <a:r>
              <a:rPr lang="pt-BR" dirty="0" err="1"/>
              <a:t>Actions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Desenvolvimento dos scripts de Infraestrutura como Código com AWS </a:t>
            </a:r>
            <a:r>
              <a:rPr lang="pt-BR" dirty="0" err="1"/>
              <a:t>CloudFormation</a:t>
            </a:r>
            <a:endParaRPr lang="pt-BR" dirty="0"/>
          </a:p>
          <a:p>
            <a:r>
              <a:rPr lang="pt-BR" b="1" dirty="0"/>
              <a:t>Fora do escopo (Fase 2):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Entrega Contínua (CD) e </a:t>
            </a:r>
            <a:r>
              <a:rPr lang="pt-BR" dirty="0" err="1"/>
              <a:t>deploy</a:t>
            </a:r>
            <a:r>
              <a:rPr lang="pt-BR" dirty="0"/>
              <a:t> automatizado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Containerização</a:t>
            </a:r>
            <a:r>
              <a:rPr lang="pt-BR" dirty="0"/>
              <a:t> com Docker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Monitoramento, </a:t>
            </a:r>
            <a:r>
              <a:rPr lang="pt-BR" dirty="0" err="1"/>
              <a:t>logging</a:t>
            </a:r>
            <a:r>
              <a:rPr lang="pt-BR" dirty="0"/>
              <a:t> e segurança avançada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23736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46F3E-709D-3249-4D4D-363E9BB3A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0C92FF5-E4E1-BB7C-DA31-E1262003F4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b="1" dirty="0"/>
              <a:t>3. Requisitos do Projeto</a:t>
            </a:r>
          </a:p>
          <a:p>
            <a:r>
              <a:rPr lang="pt-BR" b="1" dirty="0"/>
              <a:t>3.1 Requisitos Funcionais</a:t>
            </a:r>
          </a:p>
          <a:p>
            <a:endParaRPr lang="pt-BR" dirty="0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16893675-9D45-C353-B617-5F475881E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547083"/>
              </p:ext>
            </p:extLst>
          </p:nvPr>
        </p:nvGraphicFramePr>
        <p:xfrm>
          <a:off x="2661313" y="3016154"/>
          <a:ext cx="11571172" cy="5703415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1651380">
                  <a:extLst>
                    <a:ext uri="{9D8B030D-6E8A-4147-A177-3AD203B41FA5}">
                      <a16:colId xmlns:a16="http://schemas.microsoft.com/office/drawing/2014/main" val="3283636135"/>
                    </a:ext>
                  </a:extLst>
                </a:gridCol>
                <a:gridCol w="9919792">
                  <a:extLst>
                    <a:ext uri="{9D8B030D-6E8A-4147-A177-3AD203B41FA5}">
                      <a16:colId xmlns:a16="http://schemas.microsoft.com/office/drawing/2014/main" val="3335201694"/>
                    </a:ext>
                  </a:extLst>
                </a:gridCol>
              </a:tblGrid>
              <a:tr h="32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b="1">
                          <a:effectLst/>
                        </a:rPr>
                        <a:t>ID</a:t>
                      </a:r>
                    </a:p>
                  </a:txBody>
                  <a:tcPr marL="86599" marR="86599" marT="39969" marB="399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b="1">
                          <a:effectLst/>
                        </a:rPr>
                        <a:t>Requisito Funcional</a:t>
                      </a:r>
                    </a:p>
                  </a:txBody>
                  <a:tcPr marL="86599" marR="86599" marT="39969" marB="39969" anchor="ctr"/>
                </a:tc>
                <a:extLst>
                  <a:ext uri="{0D108BD9-81ED-4DB2-BD59-A6C34878D82A}">
                    <a16:rowId xmlns:a16="http://schemas.microsoft.com/office/drawing/2014/main" val="131035794"/>
                  </a:ext>
                </a:extLst>
              </a:tr>
              <a:tr h="579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>
                          <a:effectLst/>
                        </a:rPr>
                        <a:t>RF-01</a:t>
                      </a:r>
                    </a:p>
                  </a:txBody>
                  <a:tcPr marL="86599" marR="86599" marT="39969" marB="399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>
                          <a:effectLst/>
                        </a:rPr>
                        <a:t>O sistema deve possuir um repositório de código no GitHub com branch principal protegida.</a:t>
                      </a:r>
                    </a:p>
                  </a:txBody>
                  <a:tcPr marL="86599" marR="86599" marT="39969" marB="39969" anchor="ctr"/>
                </a:tc>
                <a:extLst>
                  <a:ext uri="{0D108BD9-81ED-4DB2-BD59-A6C34878D82A}">
                    <a16:rowId xmlns:a16="http://schemas.microsoft.com/office/drawing/2014/main" val="815800707"/>
                  </a:ext>
                </a:extLst>
              </a:tr>
              <a:tr h="816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>
                          <a:effectLst/>
                        </a:rPr>
                        <a:t>RF-02</a:t>
                      </a:r>
                    </a:p>
                  </a:txBody>
                  <a:tcPr marL="86599" marR="86599" marT="39969" marB="399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>
                          <a:effectLst/>
                        </a:rPr>
                        <a:t>O pipeline de CI deve ser acionado automaticamente a cada push na branch main e em pull requests.</a:t>
                      </a:r>
                    </a:p>
                  </a:txBody>
                  <a:tcPr marL="86599" marR="86599" marT="39969" marB="39969" anchor="ctr"/>
                </a:tc>
                <a:extLst>
                  <a:ext uri="{0D108BD9-81ED-4DB2-BD59-A6C34878D82A}">
                    <a16:rowId xmlns:a16="http://schemas.microsoft.com/office/drawing/2014/main" val="1084160307"/>
                  </a:ext>
                </a:extLst>
              </a:tr>
              <a:tr h="816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>
                          <a:effectLst/>
                        </a:rPr>
                        <a:t>RF-03</a:t>
                      </a:r>
                    </a:p>
                  </a:txBody>
                  <a:tcPr marL="86599" marR="86599" marT="39969" marB="399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>
                          <a:effectLst/>
                        </a:rPr>
                        <a:t>O pipeline deve executar a instalação de dependências, lint e testes unitários automaticamente.</a:t>
                      </a:r>
                    </a:p>
                  </a:txBody>
                  <a:tcPr marL="86599" marR="86599" marT="39969" marB="39969" anchor="ctr"/>
                </a:tc>
                <a:extLst>
                  <a:ext uri="{0D108BD9-81ED-4DB2-BD59-A6C34878D82A}">
                    <a16:rowId xmlns:a16="http://schemas.microsoft.com/office/drawing/2014/main" val="3472044750"/>
                  </a:ext>
                </a:extLst>
              </a:tr>
              <a:tr h="579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>
                          <a:effectLst/>
                        </a:rPr>
                        <a:t>RF-04</a:t>
                      </a:r>
                    </a:p>
                  </a:txBody>
                  <a:tcPr marL="86599" marR="86599" marT="39969" marB="399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>
                          <a:effectLst/>
                        </a:rPr>
                        <a:t>O pipeline deve notificar o resultado do build (sucesso ou falha) no GitHub.</a:t>
                      </a:r>
                    </a:p>
                  </a:txBody>
                  <a:tcPr marL="86599" marR="86599" marT="39969" marB="39969" anchor="ctr"/>
                </a:tc>
                <a:extLst>
                  <a:ext uri="{0D108BD9-81ED-4DB2-BD59-A6C34878D82A}">
                    <a16:rowId xmlns:a16="http://schemas.microsoft.com/office/drawing/2014/main" val="4071861692"/>
                  </a:ext>
                </a:extLst>
              </a:tr>
              <a:tr h="816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>
                          <a:effectLst/>
                        </a:rPr>
                        <a:t>RF-05</a:t>
                      </a:r>
                    </a:p>
                  </a:txBody>
                  <a:tcPr marL="86599" marR="86599" marT="39969" marB="399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>
                          <a:effectLst/>
                        </a:rPr>
                        <a:t>Os templates CloudFormation devem provisionar pelo menos uma instância EC2 e um bucket S3 na AWS.</a:t>
                      </a:r>
                    </a:p>
                  </a:txBody>
                  <a:tcPr marL="86599" marR="86599" marT="39969" marB="39969" anchor="ctr"/>
                </a:tc>
                <a:extLst>
                  <a:ext uri="{0D108BD9-81ED-4DB2-BD59-A6C34878D82A}">
                    <a16:rowId xmlns:a16="http://schemas.microsoft.com/office/drawing/2014/main" val="2725184496"/>
                  </a:ext>
                </a:extLst>
              </a:tr>
              <a:tr h="579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>
                          <a:effectLst/>
                        </a:rPr>
                        <a:t>RF-06</a:t>
                      </a:r>
                    </a:p>
                  </a:txBody>
                  <a:tcPr marL="86599" marR="86599" marT="39969" marB="399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>
                          <a:effectLst/>
                        </a:rPr>
                        <a:t>O template CloudFormation deve ser parametrizável (ambiente: dev, staging, prod).</a:t>
                      </a:r>
                    </a:p>
                  </a:txBody>
                  <a:tcPr marL="86599" marR="86599" marT="39969" marB="39969" anchor="ctr"/>
                </a:tc>
                <a:extLst>
                  <a:ext uri="{0D108BD9-81ED-4DB2-BD59-A6C34878D82A}">
                    <a16:rowId xmlns:a16="http://schemas.microsoft.com/office/drawing/2014/main" val="3447959205"/>
                  </a:ext>
                </a:extLst>
              </a:tr>
              <a:tr h="579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>
                          <a:effectLst/>
                        </a:rPr>
                        <a:t>RF-07</a:t>
                      </a:r>
                    </a:p>
                  </a:txBody>
                  <a:tcPr marL="86599" marR="86599" marT="39969" marB="399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>
                          <a:effectLst/>
                        </a:rPr>
                        <a:t>A aplicação deve expor ao menos um endpoint HTTP funcional e testado.</a:t>
                      </a:r>
                    </a:p>
                  </a:txBody>
                  <a:tcPr marL="86599" marR="86599" marT="39969" marB="39969" anchor="ctr"/>
                </a:tc>
                <a:extLst>
                  <a:ext uri="{0D108BD9-81ED-4DB2-BD59-A6C34878D82A}">
                    <a16:rowId xmlns:a16="http://schemas.microsoft.com/office/drawing/2014/main" val="13741297"/>
                  </a:ext>
                </a:extLst>
              </a:tr>
              <a:tr h="579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>
                          <a:effectLst/>
                        </a:rPr>
                        <a:t>RF-08</a:t>
                      </a:r>
                    </a:p>
                  </a:txBody>
                  <a:tcPr marL="86599" marR="86599" marT="39969" marB="399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>
                          <a:effectLst/>
                        </a:rPr>
                        <a:t>O repositório deve conter README com instruções de execução e link para a documentação.</a:t>
                      </a:r>
                    </a:p>
                  </a:txBody>
                  <a:tcPr marL="86599" marR="86599" marT="39969" marB="39969" anchor="ctr"/>
                </a:tc>
                <a:extLst>
                  <a:ext uri="{0D108BD9-81ED-4DB2-BD59-A6C34878D82A}">
                    <a16:rowId xmlns:a16="http://schemas.microsoft.com/office/drawing/2014/main" val="1022464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7603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705B7-9FC0-BAFA-E9AF-DB6022843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00D0EC-7FE2-3B78-48AB-D7C0C35F8F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b="1" dirty="0"/>
              <a:t>3.1 Requisitos Não Funcionais</a:t>
            </a:r>
          </a:p>
          <a:p>
            <a:endParaRPr lang="pt-BR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783CB874-8121-25C7-D98C-EBAE98605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257324"/>
              </p:ext>
            </p:extLst>
          </p:nvPr>
        </p:nvGraphicFramePr>
        <p:xfrm>
          <a:off x="1745889" y="2555386"/>
          <a:ext cx="12910272" cy="6092216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6455136">
                  <a:extLst>
                    <a:ext uri="{9D8B030D-6E8A-4147-A177-3AD203B41FA5}">
                      <a16:colId xmlns:a16="http://schemas.microsoft.com/office/drawing/2014/main" val="627299418"/>
                    </a:ext>
                  </a:extLst>
                </a:gridCol>
                <a:gridCol w="6455136">
                  <a:extLst>
                    <a:ext uri="{9D8B030D-6E8A-4147-A177-3AD203B41FA5}">
                      <a16:colId xmlns:a16="http://schemas.microsoft.com/office/drawing/2014/main" val="3908032301"/>
                    </a:ext>
                  </a:extLst>
                </a:gridCol>
              </a:tblGrid>
              <a:tr h="454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300" b="1">
                          <a:effectLst/>
                        </a:rPr>
                        <a:t>ID</a:t>
                      </a:r>
                    </a:p>
                  </a:txBody>
                  <a:tcPr marL="112994" marR="112994" marT="52151" marB="521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300" b="1">
                          <a:effectLst/>
                        </a:rPr>
                        <a:t>Requisito Não Funcional</a:t>
                      </a:r>
                    </a:p>
                  </a:txBody>
                  <a:tcPr marL="112994" marR="112994" marT="52151" marB="52151" anchor="ctr"/>
                </a:tc>
                <a:extLst>
                  <a:ext uri="{0D108BD9-81ED-4DB2-BD59-A6C34878D82A}">
                    <a16:rowId xmlns:a16="http://schemas.microsoft.com/office/drawing/2014/main" val="884331631"/>
                  </a:ext>
                </a:extLst>
              </a:tr>
              <a:tr h="8052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300">
                          <a:effectLst/>
                        </a:rPr>
                        <a:t>RNF-01</a:t>
                      </a:r>
                    </a:p>
                  </a:txBody>
                  <a:tcPr marL="112994" marR="112994" marT="52151" marB="521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300">
                          <a:effectLst/>
                        </a:rPr>
                        <a:t>O pipeline de CI deve ser concluído em no máximo 10 minutos.</a:t>
                      </a:r>
                    </a:p>
                  </a:txBody>
                  <a:tcPr marL="112994" marR="112994" marT="52151" marB="52151" anchor="ctr"/>
                </a:tc>
                <a:extLst>
                  <a:ext uri="{0D108BD9-81ED-4DB2-BD59-A6C34878D82A}">
                    <a16:rowId xmlns:a16="http://schemas.microsoft.com/office/drawing/2014/main" val="3372694416"/>
                  </a:ext>
                </a:extLst>
              </a:tr>
              <a:tr h="8052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300">
                          <a:effectLst/>
                        </a:rPr>
                        <a:t>RNF-02</a:t>
                      </a:r>
                    </a:p>
                  </a:txBody>
                  <a:tcPr marL="112994" marR="112994" marT="52151" marB="521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300">
                          <a:effectLst/>
                        </a:rPr>
                        <a:t>O código deve seguir padrões de qualidade verificados por linter (ESLint / Flake8).</a:t>
                      </a:r>
                    </a:p>
                  </a:txBody>
                  <a:tcPr marL="112994" marR="112994" marT="52151" marB="52151" anchor="ctr"/>
                </a:tc>
                <a:extLst>
                  <a:ext uri="{0D108BD9-81ED-4DB2-BD59-A6C34878D82A}">
                    <a16:rowId xmlns:a16="http://schemas.microsoft.com/office/drawing/2014/main" val="1375908997"/>
                  </a:ext>
                </a:extLst>
              </a:tr>
              <a:tr h="8052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300">
                          <a:effectLst/>
                        </a:rPr>
                        <a:t>RNF-03</a:t>
                      </a:r>
                    </a:p>
                  </a:txBody>
                  <a:tcPr marL="112994" marR="112994" marT="52151" marB="521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300">
                          <a:effectLst/>
                        </a:rPr>
                        <a:t>A cobertura de testes unitários deve ser de no mínimo 60%.</a:t>
                      </a:r>
                    </a:p>
                  </a:txBody>
                  <a:tcPr marL="112994" marR="112994" marT="52151" marB="52151" anchor="ctr"/>
                </a:tc>
                <a:extLst>
                  <a:ext uri="{0D108BD9-81ED-4DB2-BD59-A6C34878D82A}">
                    <a16:rowId xmlns:a16="http://schemas.microsoft.com/office/drawing/2014/main" val="3159152787"/>
                  </a:ext>
                </a:extLst>
              </a:tr>
              <a:tr h="8052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300">
                          <a:effectLst/>
                        </a:rPr>
                        <a:t>RNF-04</a:t>
                      </a:r>
                    </a:p>
                  </a:txBody>
                  <a:tcPr marL="112994" marR="112994" marT="52151" marB="521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300">
                          <a:effectLst/>
                        </a:rPr>
                        <a:t>Os templates CloudFormation devem ser versionados junto ao código no repositório.</a:t>
                      </a:r>
                    </a:p>
                  </a:txBody>
                  <a:tcPr marL="112994" marR="112994" marT="52151" marB="52151" anchor="ctr"/>
                </a:tc>
                <a:extLst>
                  <a:ext uri="{0D108BD9-81ED-4DB2-BD59-A6C34878D82A}">
                    <a16:rowId xmlns:a16="http://schemas.microsoft.com/office/drawing/2014/main" val="2779291169"/>
                  </a:ext>
                </a:extLst>
              </a:tr>
              <a:tr h="8052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300">
                          <a:effectLst/>
                        </a:rPr>
                        <a:t>RNF-05</a:t>
                      </a:r>
                    </a:p>
                  </a:txBody>
                  <a:tcPr marL="112994" marR="112994" marT="52151" marB="521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300">
                          <a:effectLst/>
                        </a:rPr>
                        <a:t>As credenciais AWS nunca devem ser expostas no código; devem usar GitHub Secrets.</a:t>
                      </a:r>
                    </a:p>
                  </a:txBody>
                  <a:tcPr marL="112994" marR="112994" marT="52151" marB="52151" anchor="ctr"/>
                </a:tc>
                <a:extLst>
                  <a:ext uri="{0D108BD9-81ED-4DB2-BD59-A6C34878D82A}">
                    <a16:rowId xmlns:a16="http://schemas.microsoft.com/office/drawing/2014/main" val="3182353696"/>
                  </a:ext>
                </a:extLst>
              </a:tr>
              <a:tr h="8052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300">
                          <a:effectLst/>
                        </a:rPr>
                        <a:t>RNF-06</a:t>
                      </a:r>
                    </a:p>
                  </a:txBody>
                  <a:tcPr marL="112994" marR="112994" marT="52151" marB="521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300">
                          <a:effectLst/>
                        </a:rPr>
                        <a:t>O pipeline deve ser reproduzível: o mesmo commit deve gerar sempre o mesmo resultado.</a:t>
                      </a:r>
                    </a:p>
                  </a:txBody>
                  <a:tcPr marL="112994" marR="112994" marT="52151" marB="52151" anchor="ctr"/>
                </a:tc>
                <a:extLst>
                  <a:ext uri="{0D108BD9-81ED-4DB2-BD59-A6C34878D82A}">
                    <a16:rowId xmlns:a16="http://schemas.microsoft.com/office/drawing/2014/main" val="1371961995"/>
                  </a:ext>
                </a:extLst>
              </a:tr>
              <a:tr h="8052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300">
                          <a:effectLst/>
                        </a:rPr>
                        <a:t>RNF-07</a:t>
                      </a:r>
                    </a:p>
                  </a:txBody>
                  <a:tcPr marL="112994" marR="112994" marT="52151" marB="521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300" dirty="0">
                          <a:effectLst/>
                        </a:rPr>
                        <a:t>O repositório deve ser público e acessível para avaliação do professor.</a:t>
                      </a:r>
                    </a:p>
                  </a:txBody>
                  <a:tcPr marL="112994" marR="112994" marT="52151" marB="52151" anchor="ctr"/>
                </a:tc>
                <a:extLst>
                  <a:ext uri="{0D108BD9-81ED-4DB2-BD59-A6C34878D82A}">
                    <a16:rowId xmlns:a16="http://schemas.microsoft.com/office/drawing/2014/main" val="1964046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5872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42BFD-4A19-5D87-C094-A79D5870C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344BF5-B909-6195-3A52-378FBD38B2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b="1" dirty="0"/>
              <a:t>3.1 Requisitos de Infraestrutura:</a:t>
            </a:r>
          </a:p>
          <a:p>
            <a:r>
              <a:rPr lang="pt-BR" dirty="0"/>
              <a:t>A infraestrutura provisionada pelo AWS </a:t>
            </a:r>
            <a:r>
              <a:rPr lang="pt-BR" dirty="0" err="1"/>
              <a:t>CloudFormation</a:t>
            </a:r>
            <a:r>
              <a:rPr lang="pt-BR" dirty="0"/>
              <a:t> na Fase 1 deve contemplar:</a:t>
            </a:r>
            <a:endParaRPr lang="pt-BR" b="1" dirty="0"/>
          </a:p>
          <a:p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E8C6845A-27BA-10C5-0B42-6DC3E87419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410370"/>
              </p:ext>
            </p:extLst>
          </p:nvPr>
        </p:nvGraphicFramePr>
        <p:xfrm>
          <a:off x="1127125" y="3146330"/>
          <a:ext cx="14147800" cy="4910328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7073900">
                  <a:extLst>
                    <a:ext uri="{9D8B030D-6E8A-4147-A177-3AD203B41FA5}">
                      <a16:colId xmlns:a16="http://schemas.microsoft.com/office/drawing/2014/main" val="2882372076"/>
                    </a:ext>
                  </a:extLst>
                </a:gridCol>
                <a:gridCol w="7073900">
                  <a:extLst>
                    <a:ext uri="{9D8B030D-6E8A-4147-A177-3AD203B41FA5}">
                      <a16:colId xmlns:a16="http://schemas.microsoft.com/office/drawing/2014/main" val="32097185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effectLst/>
                        </a:rPr>
                        <a:t>Recurso AWS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effectLst/>
                        </a:rPr>
                        <a:t>Descrição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469224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Amazon EC2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Instância t2.micro (free tier) para hospedar a aplicação.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652341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Amazon S3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Bucket para armazenar artefatos de build e logs do pipeline.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153338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IAM Role / Policy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Permissões mínimas necessárias para execução segura (princípio do menor privilégio).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778390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Security Group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Regras de firewall para expor apenas as portas necessárias (80, 443, 22 restrito).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53858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CloudFormation Stack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effectLst/>
                        </a:rPr>
                        <a:t>Stack parametrizável com variáveis de ambiente (</a:t>
                      </a:r>
                      <a:r>
                        <a:rPr lang="pt-BR" dirty="0" err="1">
                          <a:effectLst/>
                        </a:rPr>
                        <a:t>dev</a:t>
                      </a:r>
                      <a:r>
                        <a:rPr lang="pt-BR" dirty="0">
                          <a:effectLst/>
                        </a:rPr>
                        <a:t>/</a:t>
                      </a:r>
                      <a:r>
                        <a:rPr lang="pt-BR" dirty="0" err="1">
                          <a:effectLst/>
                        </a:rPr>
                        <a:t>staging</a:t>
                      </a:r>
                      <a:r>
                        <a:rPr lang="pt-BR" dirty="0">
                          <a:effectLst/>
                        </a:rPr>
                        <a:t>/</a:t>
                      </a:r>
                      <a:r>
                        <a:rPr lang="pt-BR" dirty="0" err="1">
                          <a:effectLst/>
                        </a:rPr>
                        <a:t>prod</a:t>
                      </a:r>
                      <a:r>
                        <a:rPr lang="pt-BR" dirty="0">
                          <a:effectLst/>
                        </a:rPr>
                        <a:t>).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154046601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334BBBD1-D93E-EBC8-D7F8-4A0E1D5F18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927893"/>
              </p:ext>
            </p:extLst>
          </p:nvPr>
        </p:nvGraphicFramePr>
        <p:xfrm>
          <a:off x="1127125" y="3146330"/>
          <a:ext cx="14147800" cy="4910328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7073900">
                  <a:extLst>
                    <a:ext uri="{9D8B030D-6E8A-4147-A177-3AD203B41FA5}">
                      <a16:colId xmlns:a16="http://schemas.microsoft.com/office/drawing/2014/main" val="2882372076"/>
                    </a:ext>
                  </a:extLst>
                </a:gridCol>
                <a:gridCol w="7073900">
                  <a:extLst>
                    <a:ext uri="{9D8B030D-6E8A-4147-A177-3AD203B41FA5}">
                      <a16:colId xmlns:a16="http://schemas.microsoft.com/office/drawing/2014/main" val="32097185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effectLst/>
                        </a:rPr>
                        <a:t>Recurso AWS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effectLst/>
                        </a:rPr>
                        <a:t>Descrição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469224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Amazon EC2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Instância t2.micro (free tier) para hospedar a aplicação.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652341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Amazon S3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Bucket para armazenar artefatos de build e logs do pipeline.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153338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IAM Role / Policy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Permissões mínimas necessárias para execução segura (princípio do menor privilégio).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778390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Security Group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Regras de firewall para expor apenas as portas necessárias (80, 443, 22 restrito).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53858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CloudFormation Stack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effectLst/>
                        </a:rPr>
                        <a:t>Stack parametrizável com variáveis de ambiente (</a:t>
                      </a:r>
                      <a:r>
                        <a:rPr lang="pt-BR" dirty="0" err="1">
                          <a:effectLst/>
                        </a:rPr>
                        <a:t>dev</a:t>
                      </a:r>
                      <a:r>
                        <a:rPr lang="pt-BR" dirty="0">
                          <a:effectLst/>
                        </a:rPr>
                        <a:t>/</a:t>
                      </a:r>
                      <a:r>
                        <a:rPr lang="pt-BR" dirty="0" err="1">
                          <a:effectLst/>
                        </a:rPr>
                        <a:t>staging</a:t>
                      </a:r>
                      <a:r>
                        <a:rPr lang="pt-BR" dirty="0">
                          <a:effectLst/>
                        </a:rPr>
                        <a:t>/</a:t>
                      </a:r>
                      <a:r>
                        <a:rPr lang="pt-BR" dirty="0" err="1">
                          <a:effectLst/>
                        </a:rPr>
                        <a:t>prod</a:t>
                      </a:r>
                      <a:r>
                        <a:rPr lang="pt-BR" dirty="0">
                          <a:effectLst/>
                        </a:rPr>
                        <a:t>).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154046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1475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F78EF-9156-B818-1BE7-0301B564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C178A6-7FD1-7C96-8918-DD4BFFBABF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b="1" dirty="0"/>
              <a:t>3.4 Requisitos de Segurança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Nenhuma credencial ou chave secreta deve estar escrita diretamente no código-fonte.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Todas as credenciais AWS devem ser armazenadas como GitHub Secrets e acessadas via variáveis de ambiente no workflow.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 </a:t>
            </a:r>
            <a:r>
              <a:rPr lang="pt-BR" dirty="0" err="1"/>
              <a:t>bucket</a:t>
            </a:r>
            <a:r>
              <a:rPr lang="pt-BR" dirty="0"/>
              <a:t> S3 não deve ser público; acesso controlado por IAM.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instância EC2 deve ter acesso SSH restrito a </a:t>
            </a:r>
            <a:r>
              <a:rPr lang="pt-BR" dirty="0" err="1"/>
              <a:t>IPs</a:t>
            </a:r>
            <a:r>
              <a:rPr lang="pt-BR" dirty="0"/>
              <a:t> específicos ou via AWS Systems Manager.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Dependências do projeto devem ser verificadas quanto a vulnerabilidades conhecidas (</a:t>
            </a:r>
            <a:r>
              <a:rPr lang="pt-BR" dirty="0" err="1"/>
              <a:t>npm</a:t>
            </a:r>
            <a:r>
              <a:rPr lang="pt-BR" dirty="0"/>
              <a:t> </a:t>
            </a:r>
            <a:r>
              <a:rPr lang="pt-BR" dirty="0" err="1"/>
              <a:t>audit</a:t>
            </a:r>
            <a:r>
              <a:rPr lang="pt-BR" dirty="0"/>
              <a:t> / </a:t>
            </a:r>
            <a:r>
              <a:rPr lang="pt-BR" dirty="0" err="1"/>
              <a:t>pip</a:t>
            </a:r>
            <a:r>
              <a:rPr lang="pt-BR" dirty="0"/>
              <a:t> </a:t>
            </a:r>
            <a:r>
              <a:rPr lang="pt-BR" dirty="0" err="1"/>
              <a:t>audit</a:t>
            </a:r>
            <a:r>
              <a:rPr lang="pt-BR" dirty="0"/>
              <a:t>).</a:t>
            </a:r>
          </a:p>
          <a:p>
            <a:r>
              <a:rPr lang="pt-BR" b="1" dirty="0"/>
              <a:t>Nota — AWS </a:t>
            </a:r>
            <a:r>
              <a:rPr lang="pt-BR" b="1" dirty="0" err="1"/>
              <a:t>Academy</a:t>
            </a:r>
            <a:r>
              <a:rPr lang="pt-BR" b="1" dirty="0"/>
              <a:t> (</a:t>
            </a:r>
            <a:r>
              <a:rPr lang="pt-BR" b="1" dirty="0" err="1"/>
              <a:t>Learner</a:t>
            </a:r>
            <a:r>
              <a:rPr lang="pt-BR" b="1" dirty="0"/>
              <a:t> </a:t>
            </a:r>
            <a:r>
              <a:rPr lang="pt-BR" b="1" dirty="0" err="1"/>
              <a:t>Lab</a:t>
            </a:r>
            <a:r>
              <a:rPr lang="pt-BR" b="1" dirty="0"/>
              <a:t>):</a:t>
            </a:r>
            <a:r>
              <a:rPr lang="pt-BR" dirty="0"/>
              <a:t> o ambiente não permite criar usuários IAM nem </a:t>
            </a:r>
            <a:r>
              <a:rPr lang="pt-BR" dirty="0" err="1"/>
              <a:t>access</a:t>
            </a:r>
            <a:r>
              <a:rPr lang="pt-BR" dirty="0"/>
              <a:t> </a:t>
            </a:r>
            <a:r>
              <a:rPr lang="pt-BR" dirty="0" err="1"/>
              <a:t>keys</a:t>
            </a:r>
            <a:r>
              <a:rPr lang="pt-BR" dirty="0"/>
              <a:t> permanentes. As credenciais são temporárias e obtidas diretamente no </a:t>
            </a:r>
            <a:r>
              <a:rPr lang="pt-BR" dirty="0" err="1"/>
              <a:t>Learner</a:t>
            </a:r>
            <a:r>
              <a:rPr lang="pt-BR" dirty="0"/>
              <a:t> Lab. Consulte a seção </a:t>
            </a:r>
            <a:r>
              <a:rPr lang="pt-BR" u="sng" dirty="0">
                <a:hlinkClick r:id="rId2"/>
              </a:rPr>
              <a:t>5.4 Credenciais AWS </a:t>
            </a:r>
            <a:r>
              <a:rPr lang="pt-BR" u="sng" dirty="0" err="1">
                <a:hlinkClick r:id="rId2"/>
              </a:rPr>
              <a:t>Academy</a:t>
            </a:r>
            <a:r>
              <a:rPr lang="pt-BR" dirty="0"/>
              <a:t> para o procedimento completo.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0372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0C734D-B74A-49B4-81F9-B095FD7D62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b="1" dirty="0"/>
              <a:t>4.2 Etapas do Pipeline CI</a:t>
            </a:r>
          </a:p>
          <a:p>
            <a:r>
              <a:rPr lang="pt-BR" dirty="0"/>
              <a:t>Trigger (</a:t>
            </a:r>
            <a:r>
              <a:rPr lang="pt-BR" dirty="0" err="1"/>
              <a:t>push</a:t>
            </a:r>
            <a:r>
              <a:rPr lang="pt-BR" dirty="0"/>
              <a:t> / PR / </a:t>
            </a:r>
            <a:r>
              <a:rPr lang="pt-BR" dirty="0" err="1"/>
              <a:t>workflow_dispatch</a:t>
            </a:r>
            <a:r>
              <a:rPr lang="pt-BR" dirty="0"/>
              <a:t>)</a:t>
            </a:r>
          </a:p>
          <a:p>
            <a:r>
              <a:rPr lang="pt-BR" dirty="0"/>
              <a:t>       │</a:t>
            </a:r>
          </a:p>
          <a:p>
            <a:r>
              <a:rPr lang="pt-BR" dirty="0"/>
              <a:t>       ▼</a:t>
            </a:r>
          </a:p>
          <a:p>
            <a:r>
              <a:rPr lang="pt-BR" dirty="0"/>
              <a:t>┌─────────────────────────────────────────────────────────┐</a:t>
            </a:r>
          </a:p>
          <a:p>
            <a:r>
              <a:rPr lang="pt-BR" dirty="0"/>
              <a:t>│            GitHub </a:t>
            </a:r>
            <a:r>
              <a:rPr lang="pt-BR" dirty="0" err="1"/>
              <a:t>Actions</a:t>
            </a:r>
            <a:r>
              <a:rPr lang="pt-BR" dirty="0"/>
              <a:t> — </a:t>
            </a:r>
            <a:r>
              <a:rPr lang="pt-BR" dirty="0" err="1"/>
              <a:t>ci.yml</a:t>
            </a:r>
            <a:r>
              <a:rPr lang="pt-BR" dirty="0"/>
              <a:t>                                                                       │</a:t>
            </a:r>
          </a:p>
          <a:p>
            <a:r>
              <a:rPr lang="pt-BR" dirty="0"/>
              <a:t>│                                                                                                                              │</a:t>
            </a:r>
          </a:p>
          <a:p>
            <a:r>
              <a:rPr lang="pt-BR" dirty="0"/>
              <a:t>│  1. Checkout          → Clona o repositório                                                     │</a:t>
            </a:r>
          </a:p>
          <a:p>
            <a:r>
              <a:rPr lang="pt-BR" dirty="0"/>
              <a:t>│  2. Setup Ambiente    → Node.js 20 (com cache </a:t>
            </a:r>
            <a:r>
              <a:rPr lang="pt-BR" dirty="0" err="1"/>
              <a:t>npm</a:t>
            </a:r>
            <a:r>
              <a:rPr lang="pt-BR" dirty="0"/>
              <a:t>)                              │</a:t>
            </a:r>
          </a:p>
          <a:p>
            <a:r>
              <a:rPr lang="pt-BR" dirty="0"/>
              <a:t>│  3. Instalar </a:t>
            </a:r>
            <a:r>
              <a:rPr lang="pt-BR" dirty="0" err="1"/>
              <a:t>Deps</a:t>
            </a:r>
            <a:r>
              <a:rPr lang="pt-BR" dirty="0"/>
              <a:t>     → </a:t>
            </a:r>
            <a:r>
              <a:rPr lang="pt-BR" dirty="0" err="1"/>
              <a:t>npm</a:t>
            </a:r>
            <a:r>
              <a:rPr lang="pt-BR" dirty="0"/>
              <a:t> </a:t>
            </a:r>
            <a:r>
              <a:rPr lang="pt-BR" dirty="0" err="1"/>
              <a:t>install</a:t>
            </a:r>
            <a:r>
              <a:rPr lang="pt-BR" dirty="0"/>
              <a:t>                                                                   │</a:t>
            </a:r>
          </a:p>
          <a:p>
            <a:r>
              <a:rPr lang="pt-BR" dirty="0"/>
              <a:t>│  4. Lint              → </a:t>
            </a:r>
            <a:r>
              <a:rPr lang="pt-BR" dirty="0" err="1"/>
              <a:t>HTMLHint</a:t>
            </a:r>
            <a:r>
              <a:rPr lang="pt-BR" dirty="0"/>
              <a:t> (index.html)                                                     │</a:t>
            </a:r>
          </a:p>
          <a:p>
            <a:r>
              <a:rPr lang="pt-BR" dirty="0"/>
              <a:t>│  5. Testes Unitários  → </a:t>
            </a:r>
            <a:r>
              <a:rPr lang="pt-BR" dirty="0" err="1"/>
              <a:t>Jest</a:t>
            </a:r>
            <a:r>
              <a:rPr lang="pt-BR" dirty="0"/>
              <a:t> + cobertura (</a:t>
            </a:r>
            <a:r>
              <a:rPr lang="pt-BR" dirty="0" err="1"/>
              <a:t>jsdom</a:t>
            </a:r>
            <a:r>
              <a:rPr lang="pt-BR" dirty="0"/>
              <a:t>)                                         │</a:t>
            </a:r>
          </a:p>
          <a:p>
            <a:r>
              <a:rPr lang="pt-BR" dirty="0"/>
              <a:t>│  6. Auditoria         → </a:t>
            </a:r>
            <a:r>
              <a:rPr lang="pt-BR" dirty="0" err="1"/>
              <a:t>npm</a:t>
            </a:r>
            <a:r>
              <a:rPr lang="pt-BR" dirty="0"/>
              <a:t> </a:t>
            </a:r>
            <a:r>
              <a:rPr lang="pt-BR" dirty="0" err="1"/>
              <a:t>audit</a:t>
            </a:r>
            <a:r>
              <a:rPr lang="pt-BR" dirty="0"/>
              <a:t> --</a:t>
            </a:r>
            <a:r>
              <a:rPr lang="pt-BR" dirty="0" err="1"/>
              <a:t>audit-level</a:t>
            </a:r>
            <a:r>
              <a:rPr lang="pt-BR" dirty="0"/>
              <a:t>=</a:t>
            </a:r>
            <a:r>
              <a:rPr lang="pt-BR" dirty="0" err="1"/>
              <a:t>moderate</a:t>
            </a:r>
            <a:r>
              <a:rPr lang="pt-BR" dirty="0"/>
              <a:t>                            │</a:t>
            </a:r>
          </a:p>
          <a:p>
            <a:r>
              <a:rPr lang="pt-BR" dirty="0"/>
              <a:t>│  7. Artefato          → Upload do relatório de cobertura                               │</a:t>
            </a:r>
          </a:p>
          <a:p>
            <a:r>
              <a:rPr lang="pt-BR" dirty="0"/>
              <a:t>│  8. Notificação       → Status no GitHub PR/</a:t>
            </a:r>
            <a:r>
              <a:rPr lang="pt-BR" dirty="0" err="1"/>
              <a:t>commit</a:t>
            </a:r>
            <a:r>
              <a:rPr lang="pt-BR" dirty="0"/>
              <a:t>                                     │</a:t>
            </a:r>
          </a:p>
          <a:p>
            <a:r>
              <a:rPr lang="pt-BR" dirty="0"/>
              <a:t>└─────────────────────────────────────────────────────────┘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600266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0F7E0-A4FE-F635-6251-8E992E98E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9C01A9-EA58-3E0D-A01D-E4C7FE765D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55084A93-0F17-03E9-3E49-07E1637E0E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408901"/>
              </p:ext>
            </p:extLst>
          </p:nvPr>
        </p:nvGraphicFramePr>
        <p:xfrm>
          <a:off x="2194334" y="2555875"/>
          <a:ext cx="12013382" cy="6091239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6006691">
                  <a:extLst>
                    <a:ext uri="{9D8B030D-6E8A-4147-A177-3AD203B41FA5}">
                      <a16:colId xmlns:a16="http://schemas.microsoft.com/office/drawing/2014/main" val="4042806318"/>
                    </a:ext>
                  </a:extLst>
                </a:gridCol>
                <a:gridCol w="6006691">
                  <a:extLst>
                    <a:ext uri="{9D8B030D-6E8A-4147-A177-3AD203B41FA5}">
                      <a16:colId xmlns:a16="http://schemas.microsoft.com/office/drawing/2014/main" val="1666094814"/>
                    </a:ext>
                  </a:extLst>
                </a:gridCol>
              </a:tblGrid>
              <a:tr h="4231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 b="1">
                          <a:effectLst/>
                        </a:rPr>
                        <a:t>Etapa</a:t>
                      </a:r>
                    </a:p>
                  </a:txBody>
                  <a:tcPr marL="105144" marR="105144" marT="48528" marB="485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 b="1">
                          <a:effectLst/>
                        </a:rPr>
                        <a:t>Descrição</a:t>
                      </a:r>
                    </a:p>
                  </a:txBody>
                  <a:tcPr marL="105144" marR="105144" marT="48528" marB="48528" anchor="ctr"/>
                </a:tc>
                <a:extLst>
                  <a:ext uri="{0D108BD9-81ED-4DB2-BD59-A6C34878D82A}">
                    <a16:rowId xmlns:a16="http://schemas.microsoft.com/office/drawing/2014/main" val="2669032989"/>
                  </a:ext>
                </a:extLst>
              </a:tr>
              <a:tr h="7492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1. Checkout</a:t>
                      </a:r>
                    </a:p>
                  </a:txBody>
                  <a:tcPr marL="105144" marR="105144" marT="48528" marB="485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Clona o repositório e prepara o ambiente no runner do GitHub Actions.</a:t>
                      </a:r>
                    </a:p>
                  </a:txBody>
                  <a:tcPr marL="105144" marR="105144" marT="48528" marB="48528" anchor="ctr"/>
                </a:tc>
                <a:extLst>
                  <a:ext uri="{0D108BD9-81ED-4DB2-BD59-A6C34878D82A}">
                    <a16:rowId xmlns:a16="http://schemas.microsoft.com/office/drawing/2014/main" val="3489112420"/>
                  </a:ext>
                </a:extLst>
              </a:tr>
              <a:tr h="7492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 dirty="0">
                          <a:effectLst/>
                        </a:rPr>
                        <a:t>2. Setup do Ambiente</a:t>
                      </a:r>
                    </a:p>
                  </a:txBody>
                  <a:tcPr marL="105144" marR="105144" marT="48528" marB="485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Instala Node.js 20 com cache de pacotes npm para execuções mais rápidas.</a:t>
                      </a:r>
                    </a:p>
                  </a:txBody>
                  <a:tcPr marL="105144" marR="105144" marT="48528" marB="48528" anchor="ctr"/>
                </a:tc>
                <a:extLst>
                  <a:ext uri="{0D108BD9-81ED-4DB2-BD59-A6C34878D82A}">
                    <a16:rowId xmlns:a16="http://schemas.microsoft.com/office/drawing/2014/main" val="4027014910"/>
                  </a:ext>
                </a:extLst>
              </a:tr>
              <a:tr h="4231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3. Instalação de Dependências</a:t>
                      </a:r>
                    </a:p>
                  </a:txBody>
                  <a:tcPr marL="105144" marR="105144" marT="48528" marB="485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Executa npm install para instalar Jest e HTMLHint.</a:t>
                      </a:r>
                    </a:p>
                  </a:txBody>
                  <a:tcPr marL="105144" marR="105144" marT="48528" marB="48528" anchor="ctr"/>
                </a:tc>
                <a:extLst>
                  <a:ext uri="{0D108BD9-81ED-4DB2-BD59-A6C34878D82A}">
                    <a16:rowId xmlns:a16="http://schemas.microsoft.com/office/drawing/2014/main" val="3294993784"/>
                  </a:ext>
                </a:extLst>
              </a:tr>
              <a:tr h="7492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4. Lint</a:t>
                      </a:r>
                    </a:p>
                  </a:txBody>
                  <a:tcPr marL="105144" marR="105144" marT="48528" marB="485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Valida a qualidade e estrutura do HTML com HTMLHint usando as regras de .htmlhintrc.</a:t>
                      </a:r>
                    </a:p>
                  </a:txBody>
                  <a:tcPr marL="105144" marR="105144" marT="48528" marB="48528" anchor="ctr"/>
                </a:tc>
                <a:extLst>
                  <a:ext uri="{0D108BD9-81ED-4DB2-BD59-A6C34878D82A}">
                    <a16:rowId xmlns:a16="http://schemas.microsoft.com/office/drawing/2014/main" val="1711636558"/>
                  </a:ext>
                </a:extLst>
              </a:tr>
              <a:tr h="7492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5. Testes Unitários</a:t>
                      </a:r>
                    </a:p>
                  </a:txBody>
                  <a:tcPr marL="105144" marR="105144" marT="48528" marB="485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Executa 19 testes com Jest em ambiente jsdom e gera relatório de cobertura (mínimo 60%).</a:t>
                      </a:r>
                    </a:p>
                  </a:txBody>
                  <a:tcPr marL="105144" marR="105144" marT="48528" marB="48528" anchor="ctr"/>
                </a:tc>
                <a:extLst>
                  <a:ext uri="{0D108BD9-81ED-4DB2-BD59-A6C34878D82A}">
                    <a16:rowId xmlns:a16="http://schemas.microsoft.com/office/drawing/2014/main" val="2175218392"/>
                  </a:ext>
                </a:extLst>
              </a:tr>
              <a:tr h="7492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6. Verificação de Segurança</a:t>
                      </a:r>
                    </a:p>
                  </a:txBody>
                  <a:tcPr marL="105144" marR="105144" marT="48528" marB="485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Executa npm audit para identificar vulnerabilidades nas dependências.</a:t>
                      </a:r>
                    </a:p>
                  </a:txBody>
                  <a:tcPr marL="105144" marR="105144" marT="48528" marB="48528" anchor="ctr"/>
                </a:tc>
                <a:extLst>
                  <a:ext uri="{0D108BD9-81ED-4DB2-BD59-A6C34878D82A}">
                    <a16:rowId xmlns:a16="http://schemas.microsoft.com/office/drawing/2014/main" val="2646925540"/>
                  </a:ext>
                </a:extLst>
              </a:tr>
              <a:tr h="7492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7. Artefato de Cobertura</a:t>
                      </a:r>
                    </a:p>
                  </a:txBody>
                  <a:tcPr marL="105144" marR="105144" marT="48528" marB="485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Faz upload do relatório de cobertura como artefato no GitHub Actions (retido 7 dias).</a:t>
                      </a:r>
                    </a:p>
                  </a:txBody>
                  <a:tcPr marL="105144" marR="105144" marT="48528" marB="48528" anchor="ctr"/>
                </a:tc>
                <a:extLst>
                  <a:ext uri="{0D108BD9-81ED-4DB2-BD59-A6C34878D82A}">
                    <a16:rowId xmlns:a16="http://schemas.microsoft.com/office/drawing/2014/main" val="4221556080"/>
                  </a:ext>
                </a:extLst>
              </a:tr>
              <a:tr h="7492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>
                          <a:effectLst/>
                        </a:rPr>
                        <a:t>8. Notificação</a:t>
                      </a:r>
                    </a:p>
                  </a:txBody>
                  <a:tcPr marL="105144" marR="105144" marT="48528" marB="485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100" dirty="0">
                          <a:effectLst/>
                        </a:rPr>
                        <a:t>GitHub </a:t>
                      </a:r>
                      <a:r>
                        <a:rPr lang="pt-BR" sz="2100" dirty="0" err="1">
                          <a:effectLst/>
                        </a:rPr>
                        <a:t>Actions</a:t>
                      </a:r>
                      <a:r>
                        <a:rPr lang="pt-BR" sz="2100" dirty="0">
                          <a:effectLst/>
                        </a:rPr>
                        <a:t> reporta sucesso ou falha no </a:t>
                      </a:r>
                      <a:r>
                        <a:rPr lang="pt-BR" sz="2100" dirty="0" err="1">
                          <a:effectLst/>
                        </a:rPr>
                        <a:t>commit</a:t>
                      </a:r>
                      <a:r>
                        <a:rPr lang="pt-BR" sz="2100" dirty="0">
                          <a:effectLst/>
                        </a:rPr>
                        <a:t> e no </a:t>
                      </a:r>
                      <a:r>
                        <a:rPr lang="pt-BR" sz="2100" dirty="0" err="1">
                          <a:effectLst/>
                        </a:rPr>
                        <a:t>Pull</a:t>
                      </a:r>
                      <a:r>
                        <a:rPr lang="pt-BR" sz="2100" dirty="0">
                          <a:effectLst/>
                        </a:rPr>
                        <a:t> </a:t>
                      </a:r>
                      <a:r>
                        <a:rPr lang="pt-BR" sz="2100" dirty="0" err="1">
                          <a:effectLst/>
                        </a:rPr>
                        <a:t>Request</a:t>
                      </a:r>
                      <a:r>
                        <a:rPr lang="pt-BR" sz="2100" dirty="0">
                          <a:effectLst/>
                        </a:rPr>
                        <a:t> automaticamente.</a:t>
                      </a:r>
                    </a:p>
                  </a:txBody>
                  <a:tcPr marL="105144" marR="105144" marT="48528" marB="48528" anchor="ctr"/>
                </a:tc>
                <a:extLst>
                  <a:ext uri="{0D108BD9-81ED-4DB2-BD59-A6C34878D82A}">
                    <a16:rowId xmlns:a16="http://schemas.microsoft.com/office/drawing/2014/main" val="100170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7494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CAC15-CFFB-DF0E-D37A-0F78B9C2E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487FBA-B941-88F0-A1E0-9C1671D376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b="1" dirty="0"/>
              <a:t>4.3 Gatilhos do Pipeline</a:t>
            </a:r>
          </a:p>
          <a:p>
            <a:r>
              <a:rPr lang="pt-BR" dirty="0"/>
              <a:t>O pipeline é composto por dois </a:t>
            </a:r>
            <a:r>
              <a:rPr lang="pt-BR" dirty="0" err="1"/>
              <a:t>jobs</a:t>
            </a:r>
            <a:r>
              <a:rPr lang="pt-BR" dirty="0"/>
              <a:t> independentes que executam em paralelo: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 err="1"/>
              <a:t>ci</a:t>
            </a:r>
            <a:r>
              <a:rPr lang="pt-BR" dirty="0"/>
              <a:t> — Lint, testes e auditoria de segurança da aplicação Node.js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 err="1"/>
              <a:t>iac-validation</a:t>
            </a:r>
            <a:r>
              <a:rPr lang="pt-BR" dirty="0"/>
              <a:t> — Validação dos </a:t>
            </a:r>
            <a:r>
              <a:rPr lang="pt-BR" dirty="0" err="1"/>
              <a:t>templates</a:t>
            </a:r>
            <a:r>
              <a:rPr lang="pt-BR" dirty="0"/>
              <a:t> </a:t>
            </a:r>
            <a:r>
              <a:rPr lang="pt-BR" dirty="0" err="1"/>
              <a:t>CloudFormation</a:t>
            </a:r>
            <a:r>
              <a:rPr lang="pt-BR" dirty="0"/>
              <a:t> com </a:t>
            </a:r>
            <a:r>
              <a:rPr lang="pt-BR" dirty="0" err="1"/>
              <a:t>cfn-lint</a:t>
            </a:r>
            <a:endParaRPr lang="pt-BR" dirty="0"/>
          </a:p>
          <a:p>
            <a:r>
              <a:rPr lang="pt-BR" dirty="0"/>
              <a:t>Ambos são acionados por: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Push</a:t>
            </a:r>
            <a:r>
              <a:rPr lang="pt-BR" dirty="0"/>
              <a:t> para as </a:t>
            </a:r>
            <a:r>
              <a:rPr lang="pt-BR" dirty="0" err="1"/>
              <a:t>branches</a:t>
            </a:r>
            <a:r>
              <a:rPr lang="pt-BR" dirty="0"/>
              <a:t> </a:t>
            </a:r>
            <a:r>
              <a:rPr lang="pt-BR" dirty="0" err="1"/>
              <a:t>main</a:t>
            </a:r>
            <a:r>
              <a:rPr lang="pt-BR" dirty="0"/>
              <a:t> e </a:t>
            </a:r>
            <a:r>
              <a:rPr lang="pt-BR" dirty="0" err="1"/>
              <a:t>develop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Abertura ou atualização de </a:t>
            </a:r>
            <a:r>
              <a:rPr lang="pt-BR" dirty="0" err="1"/>
              <a:t>Pull</a:t>
            </a:r>
            <a:r>
              <a:rPr lang="pt-BR" dirty="0"/>
              <a:t> </a:t>
            </a:r>
            <a:r>
              <a:rPr lang="pt-BR" dirty="0" err="1"/>
              <a:t>Request</a:t>
            </a:r>
            <a:r>
              <a:rPr lang="pt-BR" dirty="0"/>
              <a:t> direcionado para </a:t>
            </a:r>
            <a:r>
              <a:rPr lang="pt-BR" dirty="0" err="1"/>
              <a:t>main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Execução manual via </a:t>
            </a:r>
            <a:r>
              <a:rPr lang="pt-BR" dirty="0" err="1"/>
              <a:t>workflow_dispatch</a:t>
            </a:r>
            <a:r>
              <a:rPr lang="pt-BR" dirty="0"/>
              <a:t> (botão no GitHub </a:t>
            </a:r>
            <a:r>
              <a:rPr lang="pt-BR" dirty="0" err="1"/>
              <a:t>Actions</a:t>
            </a:r>
            <a:r>
              <a:rPr lang="pt-BR" dirty="0"/>
              <a:t>)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7CA5C10-18CD-AF29-6F69-8BEF03472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058" y="4800600"/>
            <a:ext cx="5719437" cy="366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316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0123114-87BF-4523-A231-EA598A2BD8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8688" y="2439902"/>
            <a:ext cx="14544674" cy="6840000"/>
          </a:xfrm>
        </p:spPr>
        <p:txBody>
          <a:bodyPr/>
          <a:lstStyle/>
          <a:p>
            <a:r>
              <a:rPr lang="pt-BR" b="1" dirty="0"/>
              <a:t>5. Infraestrutura como Código</a:t>
            </a:r>
          </a:p>
          <a:p>
            <a:r>
              <a:rPr lang="pt-BR" b="1" dirty="0"/>
              <a:t>5.1 Estrutura dos </a:t>
            </a:r>
            <a:r>
              <a:rPr lang="pt-BR" b="1" dirty="0" err="1"/>
              <a:t>Templates</a:t>
            </a:r>
            <a:endParaRPr lang="pt-BR" b="1" dirty="0"/>
          </a:p>
          <a:p>
            <a:r>
              <a:rPr lang="pt-BR" dirty="0"/>
              <a:t>A infraestrutura é inteiramente definida como código usando AWS </a:t>
            </a:r>
            <a:r>
              <a:rPr lang="pt-BR" dirty="0" err="1"/>
              <a:t>CloudFormation</a:t>
            </a:r>
            <a:r>
              <a:rPr lang="pt-BR" dirty="0"/>
              <a:t>, garantindo rastreabilidade, reprodutibilidade e consistência entre ambientes. Os </a:t>
            </a:r>
            <a:r>
              <a:rPr lang="pt-BR" dirty="0" err="1"/>
              <a:t>templates</a:t>
            </a:r>
            <a:r>
              <a:rPr lang="pt-BR" dirty="0"/>
              <a:t> estão organizados em camadas independentes: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b="1" dirty="0"/>
              <a:t>5.2 Parâmetros Configuráveis</a:t>
            </a:r>
          </a:p>
          <a:p>
            <a:r>
              <a:rPr lang="pt-BR" dirty="0"/>
              <a:t>Todos os </a:t>
            </a:r>
            <a:r>
              <a:rPr lang="pt-BR" dirty="0" err="1"/>
              <a:t>templates</a:t>
            </a:r>
            <a:r>
              <a:rPr lang="pt-BR" dirty="0"/>
              <a:t> aceitam o parâmetro </a:t>
            </a:r>
            <a:r>
              <a:rPr lang="pt-BR" dirty="0" err="1"/>
              <a:t>Environment</a:t>
            </a:r>
            <a:r>
              <a:rPr lang="pt-BR" dirty="0"/>
              <a:t> com os valores </a:t>
            </a:r>
            <a:r>
              <a:rPr lang="pt-BR" dirty="0" err="1"/>
              <a:t>production</a:t>
            </a:r>
            <a:r>
              <a:rPr lang="pt-BR" dirty="0"/>
              <a:t>, </a:t>
            </a:r>
            <a:r>
              <a:rPr lang="pt-BR" dirty="0" err="1"/>
              <a:t>staging</a:t>
            </a:r>
            <a:r>
              <a:rPr lang="pt-BR" dirty="0"/>
              <a:t> ou </a:t>
            </a:r>
            <a:r>
              <a:rPr lang="pt-BR" dirty="0" err="1"/>
              <a:t>development</a:t>
            </a:r>
            <a:r>
              <a:rPr lang="pt-BR" dirty="0"/>
              <a:t>, garantindo o isolamento entre ambientes.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962E595-E068-998E-18B9-0577732FB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537" y="3832619"/>
            <a:ext cx="7924800" cy="1638300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4EA80A4-C754-8181-C466-FA354B867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461083"/>
              </p:ext>
            </p:extLst>
          </p:nvPr>
        </p:nvGraphicFramePr>
        <p:xfrm>
          <a:off x="1127125" y="5470919"/>
          <a:ext cx="14147800" cy="2875788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3090033">
                  <a:extLst>
                    <a:ext uri="{9D8B030D-6E8A-4147-A177-3AD203B41FA5}">
                      <a16:colId xmlns:a16="http://schemas.microsoft.com/office/drawing/2014/main" val="3688835446"/>
                    </a:ext>
                  </a:extLst>
                </a:gridCol>
                <a:gridCol w="11057767">
                  <a:extLst>
                    <a:ext uri="{9D8B030D-6E8A-4147-A177-3AD203B41FA5}">
                      <a16:colId xmlns:a16="http://schemas.microsoft.com/office/drawing/2014/main" val="12261537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 err="1">
                          <a:effectLst/>
                        </a:rPr>
                        <a:t>Template</a:t>
                      </a:r>
                      <a:endParaRPr lang="pt-BR" b="1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effectLst/>
                        </a:rPr>
                        <a:t>Recursos AWS Criados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745538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network.yaml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AWS::EC2::VPC, AWS::EC2::Subnet, AWS::EC2::InternetGateway, AWS::EC2::Route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286038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storage.yaml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AWS::S3::Bucket (site + artefatos), AWS::S3::BucketPolicy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40980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compute.yaml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AWS::EC2::Instance (t2.micro), AWS::EC2::SecurityGroup, AWS::IAM::Role, AWS::IAM::InstanceProfile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598360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main.yaml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effectLst/>
                        </a:rPr>
                        <a:t>AWS::</a:t>
                      </a:r>
                      <a:r>
                        <a:rPr lang="pt-BR" dirty="0" err="1">
                          <a:effectLst/>
                        </a:rPr>
                        <a:t>CloudFormation</a:t>
                      </a:r>
                      <a:r>
                        <a:rPr lang="pt-BR" dirty="0">
                          <a:effectLst/>
                        </a:rPr>
                        <a:t>::Stack (</a:t>
                      </a:r>
                      <a:r>
                        <a:rPr lang="pt-BR" dirty="0" err="1">
                          <a:effectLst/>
                        </a:rPr>
                        <a:t>nested</a:t>
                      </a:r>
                      <a:r>
                        <a:rPr lang="pt-BR" dirty="0">
                          <a:effectLst/>
                        </a:rPr>
                        <a:t> — referencia os 3 acima)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089769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5584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9929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0796DCB6-D43A-4EB7-8614-1476A7E4B4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b="1" dirty="0"/>
              <a:t>https://github.com/Daaaiii/Devops.git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21E794-B8F1-4074-A736-C3EC5824AD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0139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B1C23B81-E62A-4DBE-B9A9-C4B80D4912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71DE313-4A14-F9BB-DFCD-39077EFFF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86" y="2300062"/>
            <a:ext cx="14914444" cy="6590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702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6670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E120464-6849-45E5-BCA4-D72C557D94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0AAEE1E-24CB-4CA6-848A-9AF9798EED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71699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378000"/>
      </p:ext>
    </p:extLst>
  </p:cSld>
  <p:clrMapOvr>
    <a:masterClrMapping/>
  </p:clrMapOvr>
</p:sld>
</file>

<file path=ppt/theme/theme1.xml><?xml version="1.0" encoding="utf-8"?>
<a:theme xmlns:a="http://schemas.openxmlformats.org/drawingml/2006/main" name="Extensionista_Mapa_de_Empatia">
  <a:themeElements>
    <a:clrScheme name="Personalizada 8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4925">
          <a:noFill/>
        </a:ln>
      </a:spPr>
      <a:bodyPr lIns="0" tIns="0" rIns="0" bIns="0" rtlCol="0" anchor="t"/>
      <a:lstStyle>
        <a:defPPr algn="l">
          <a:lnSpc>
            <a:spcPct val="100000"/>
          </a:lnSpc>
          <a:defRPr sz="1600" b="1" spc="50" dirty="0" smtClean="0">
            <a:solidFill>
              <a:srgbClr val="19266B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 w="9525">
          <a:solidFill>
            <a:srgbClr val="4B00DC"/>
          </a:solidFill>
        </a:ln>
      </a:spPr>
      <a:bodyPr wrap="square" lIns="72000" tIns="72000" rIns="72000" bIns="72000" rtlCol="0" anchor="ctr" anchorCtr="0">
        <a:spAutoFit/>
      </a:bodyPr>
      <a:lstStyle>
        <a:defPPr algn="ctr" fontAlgn="base">
          <a:lnSpc>
            <a:spcPts val="2400"/>
          </a:lnSpc>
          <a:defRPr sz="2000" b="0" kern="1800" spc="-10" baseline="0" dirty="0" smtClean="0">
            <a:solidFill>
              <a:srgbClr val="4B00DC"/>
            </a:solidFill>
            <a:effectLst/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xtensionista_Mapa_de_Empatia" id="{1E0A14DB-EACD-4C09-970D-9B74786C02BA}" vid="{A356B5F9-4AF9-4532-8AB7-0B7F924627A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439f31e-650a-4110-90ce-dedea476195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B80C79D672AC42A1970465DFBE826F" ma:contentTypeVersion="15" ma:contentTypeDescription="Crie um novo documento." ma:contentTypeScope="" ma:versionID="2eefaa1e6d6c44dc16da2b9d163c9050">
  <xsd:schema xmlns:xsd="http://www.w3.org/2001/XMLSchema" xmlns:xs="http://www.w3.org/2001/XMLSchema" xmlns:p="http://schemas.microsoft.com/office/2006/metadata/properties" xmlns:ns3="6439f31e-650a-4110-90ce-dedea4761958" xmlns:ns4="0c1d693f-504f-4903-8fa4-fc4240ce4f11" targetNamespace="http://schemas.microsoft.com/office/2006/metadata/properties" ma:root="true" ma:fieldsID="0d3e9c37c1323d55a0c2b9c866021e93" ns3:_="" ns4:_="">
    <xsd:import namespace="6439f31e-650a-4110-90ce-dedea4761958"/>
    <xsd:import namespace="0c1d693f-504f-4903-8fa4-fc4240ce4f1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9f31e-650a-4110-90ce-dedea47619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1d693f-504f-4903-8fa4-fc4240ce4f1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5DC577-20A1-4512-B4E1-28F0CC21B7A7}">
  <ds:schemaRefs>
    <ds:schemaRef ds:uri="6439f31e-650a-4110-90ce-dedea4761958"/>
    <ds:schemaRef ds:uri="http://purl.org/dc/terms/"/>
    <ds:schemaRef ds:uri="http://schemas.openxmlformats.org/package/2006/metadata/core-properties"/>
    <ds:schemaRef ds:uri="http://purl.org/dc/dcmitype/"/>
    <ds:schemaRef ds:uri="0c1d693f-504f-4903-8fa4-fc4240ce4f11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16D510D-55C7-43E2-BA4A-72786699A1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840938-E05E-4C2F-BC8B-C9AED83822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9f31e-650a-4110-90ce-dedea4761958"/>
    <ds:schemaRef ds:uri="0c1d693f-504f-4903-8fa4-fc4240ce4f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Extensionista_Mapa_de_Empatia</Template>
  <TotalTime>2256</TotalTime>
  <Words>1686</Words>
  <Application>Microsoft Office PowerPoint</Application>
  <PresentationFormat>Personalizar</PresentationFormat>
  <Paragraphs>227</Paragraphs>
  <Slides>21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5" baseType="lpstr">
      <vt:lpstr>Arial</vt:lpstr>
      <vt:lpstr>Calibri</vt:lpstr>
      <vt:lpstr>Mona Sans VF</vt:lpstr>
      <vt:lpstr>Extensionista_Mapa_de_Empatia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Rafaela Boletti Duraes Souto</dc:creator>
  <cp:lastModifiedBy>DAIANE DEPONTI BOLZAN</cp:lastModifiedBy>
  <cp:revision>275</cp:revision>
  <dcterms:created xsi:type="dcterms:W3CDTF">2024-07-05T13:08:06Z</dcterms:created>
  <dcterms:modified xsi:type="dcterms:W3CDTF">2026-05-31T23:39:59Z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0x010100D0B80C79D672AC42A1970465DFBE826F</vt:lpwstr>
  </property>
  <property fmtid="{D5CDD505-2E9C-101B-9397-08002B2CF9AE}" pid="3" name="MSIP_Label_086c2b39-4223-4d15-bcb9-787ea17e6435_Enabled">
    <vt:lpwstr>true</vt:lpwstr>
  </property>
  <property fmtid="{D5CDD505-2E9C-101B-9397-08002B2CF9AE}" pid="4" name="MSIP_Label_086c2b39-4223-4d15-bcb9-787ea17e6435_SetDate">
    <vt:lpwstr>2025-05-06T18:05:23Z</vt:lpwstr>
  </property>
  <property fmtid="{D5CDD505-2E9C-101B-9397-08002B2CF9AE}" pid="5" name="MSIP_Label_086c2b39-4223-4d15-bcb9-787ea17e6435_Method">
    <vt:lpwstr>Standard</vt:lpwstr>
  </property>
  <property fmtid="{D5CDD505-2E9C-101B-9397-08002B2CF9AE}" pid="6" name="MSIP_Label_086c2b39-4223-4d15-bcb9-787ea17e6435_Name">
    <vt:lpwstr>086c2b39-4223-4d15-bcb9-787ea17e6435</vt:lpwstr>
  </property>
  <property fmtid="{D5CDD505-2E9C-101B-9397-08002B2CF9AE}" pid="7" name="MSIP_Label_086c2b39-4223-4d15-bcb9-787ea17e6435_SiteId">
    <vt:lpwstr>7575b092-fc5f-4f6c-b7a5-9e9ef7aca80d</vt:lpwstr>
  </property>
  <property fmtid="{D5CDD505-2E9C-101B-9397-08002B2CF9AE}" pid="8" name="MSIP_Label_086c2b39-4223-4d15-bcb9-787ea17e6435_ActionId">
    <vt:lpwstr>f7eb1f72-4224-4c80-b912-b5ba8cf00994</vt:lpwstr>
  </property>
  <property fmtid="{D5CDD505-2E9C-101B-9397-08002B2CF9AE}" pid="9" name="MSIP_Label_086c2b39-4223-4d15-bcb9-787ea17e6435_ContentBits">
    <vt:lpwstr>0</vt:lpwstr>
  </property>
  <property fmtid="{D5CDD505-2E9C-101B-9397-08002B2CF9AE}" pid="10" name="MSIP_Label_086c2b39-4223-4d15-bcb9-787ea17e6435_Tag">
    <vt:lpwstr>10, 3, 0, 1</vt:lpwstr>
  </property>
</Properties>
</file>